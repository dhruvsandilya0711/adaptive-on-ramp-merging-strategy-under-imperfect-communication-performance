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4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35.2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6168 6399 24575,'1'5'0,"0"1"0,0-1 0,0 0 0,1 0 0,0 0 0,0 0 0,0 0 0,1 0 0,3 5 0,5 10 0,23 45 0,50 70 0,9 17 0,-89-144 0,17 27 0,-20-34 0,0 1 0,0-1 0,0 1 0,0-1 0,1 1 0,-1-1 0,0 0 0,1 0 0,-1 1 0,1-1 0,0 0 0,-1 0 0,1-1 0,0 1 0,0 0 0,2 0 0,-3-1 0,0 0 0,-1 0 0,1 0 0,0-1 0,0 1 0,0 0 0,-1 0 0,1-1 0,0 1 0,0-1 0,-1 1 0,1-1 0,0 1 0,0-1 0,-1 1 0,1-1 0,-1 0 0,1 1 0,-1-1 0,1 0 0,-1 1 0,1-1 0,-1 0 0,1 0 0,-1 1 0,0-1 0,0 0 0,1 0 0,-1 0 0,0 0 0,0 1 0,0-1 0,0 0 0,0 0 0,0 0 0,0 0 0,0 0 0,-1-1 0,-3-39 0,3 37 0,-10-40 0,-3 0 0,-1 1 0,-2 1 0,-27-48 0,18 35 0,-4-9 0,3-1 0,3-1 0,3-2 0,-24-129 0,-13-136 0,45 270 0,-3 0 0,-3 1 0,-27-61 0,18 63 0,-31-30 0,-167-221 0,-237-275-1130,-167-167-3393,-410-382 1223,-93 92 427,472 543 850,75 126 1272,88 113-233,90 88 2011,91 61 5339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43.9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45.3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47.1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 0 24575,'1'21'0,"2"0"0,1 0 0,0-1 0,1 1 0,13 28 0,3 19 0,-10-32 0,2-1 0,2 0 0,22 41 0,-33-68 0,0 1 0,0 0 0,-1 0 0,0 0 0,-1 0 0,0 1 0,-1-1 0,0 1 0,0-1 0,-1 1 0,0-1 0,-1 1 0,0-1 0,0 1 0,-1-1 0,0 0 0,-1 1 0,0-1 0,-1 0 0,1-1 0,-2 1 0,1-1 0,-1 1 0,-1-2 0,1 1 0,-1 0 0,0-1 0,-1 0 0,0-1 0,-8 7 0,13-11 17,-1 0-1,1-1 0,-1 1 0,0-1 1,1 1-1,-1-1 0,0 0 0,0 0 1,0 0-1,0 0 0,0-1 0,0 1 1,0-1-1,0 1 0,-1-1 0,1 0 1,0-1-1,0 1 0,0 0 0,-4-2 1,5 1-95,-1 0 0,1-1 1,-1 1-1,1-1 1,-1 0-1,1 0 1,0 0-1,0 0 0,0 0 1,0 0-1,1 0 1,-1-1-1,0 1 1,1-1-1,0 1 0,-1-1 1,1 1-1,0-1 1,0 0-1,1 0 1,-2-4-1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47.5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51.0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692 200 24575,'-5'0'0,"-1"1"0,1 0 0,0 1 0,0-1 0,-1 1 0,1 0 0,0 0 0,0 1 0,1-1 0,-1 1 0,1 0 0,-1 1 0,1-1 0,-5 5 0,-9 10 0,-26 33 0,40-47 0,-57 81 0,-13 14 0,67-92 0,1 1 0,0 0 0,1 0 0,0 1 0,0-1 0,0 1 0,1 0 0,1 1 0,0-1 0,-3 12 0,19-94 0,-11 53 0,0 7 0,-2-1 0,1 1 0,-1 0 0,-4-27 0,3 37 0,0 0 0,1 0 0,-1 0 0,0 1 0,-1-1 0,1 0 0,-1 0 0,1 0 0,-1 1 0,0-1 0,0 1 0,0 0 0,0-1 0,0 1 0,0 0 0,-1 0 0,1 0 0,-1 1 0,0-1 0,1 0 0,-1 1 0,0 0 0,0 0 0,0 0 0,0 0 0,-5-1 0,-11 0 0,-1 0 0,0 2 0,-20 1 0,18 1 0,0-2 0,0-1 0,-28-3 0,45 3 0,0 0 0,0-1 0,0 1 0,0-1 0,0 0 0,0 0 0,1 0 0,-1-1 0,1 0 0,-1 1 0,1-2 0,0 1 0,0 0 0,0-1 0,1 0 0,-1 0 0,1 0 0,-4-6 0,6 8 0,0 1 0,0-1 0,0 0 0,0 0 0,0 0 0,0 0 0,0 0 0,0 0 0,1 0 0,-1 0 0,1 0 0,0 0 0,-1 0 0,1-1 0,0 1 0,0 0 0,1 0 0,-1 0 0,0 0 0,1 0 0,-1 0 0,1 0 0,0 0 0,-1 0 0,1 0 0,0 0 0,0 0 0,0 0 0,1 0 0,-1 1 0,0-1 0,1 1 0,-1-1 0,1 1 0,-1-1 0,1 1 0,0 0 0,3-2 0,7-3 0,0 0 0,0 1 0,0 1 0,0 0 0,17-3 0,-10 3 0,-4-1 48,-1 0 0,0-1 0,0 0 0,-1-1 0,25-17-1,57-52-327,-33 23-1092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8:13:53.9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450 187 24575,'-1'3'0,"0"0"0,1 0 0,-1 0 0,-1 0 0,1 0 0,0-1 0,-1 1 0,-1 3 0,-5 8 0,-1 3 0,0-1 0,-1-1 0,0 0 0,-1 0 0,-18 17 0,-11 16 0,14-21 0,26-27 0,-1 1 0,1-1 0,-1 0 0,1 1 0,-1-1 0,1 0 0,-1 1 0,0-1 0,1 0 0,-1 0 0,1 0 0,-1 1 0,0-1 0,1 0 0,-1 0 0,1 0 0,-1 0 0,0 0 0,1 0 0,-1 0 0,0 0 0,1 0 0,-1-1 0,1 1 0,-1 0 0,0 0 0,1 0 0,-1-1 0,1 1 0,-1 0 0,1-1 0,-1 1 0,1 0 0,-1-1 0,1 1 0,-1-1 0,1 1 0,-1-1 0,1 1 0,0-1 0,-1 1 0,1-1 0,0 1 0,0-1 0,-1 0 0,1 1 0,0-1 0,0 1 0,0-1 0,0 0 0,-1 1 0,1-2 0,-3-13 0,1-1 0,0 1 0,2 0 0,-1-1 0,2 1 0,2-18 0,-1 19 0,-1 1 0,0-1 0,-1 1 0,-1-1 0,0 0 0,-1 1 0,0 0 0,-7-24 0,7 33 0,0 0 0,-1 0 0,0 0 0,1 0 0,-1 0 0,0 0 0,-1 1 0,1-1 0,-1 1 0,1 0 0,-1 0 0,0 0 0,0 1 0,0-1 0,-1 1 0,1 0 0,0 0 0,-10-2 0,-5 0 0,1 0 0,-1 1 0,-28 0 0,18 1 0,27 2 0,0 0 0,1 0 0,-1 0 0,0 0 0,1 0 0,-1-1 0,0 1 0,1-1 0,-1 1 0,1-1 0,-1 1 0,1-1 0,-1 0 0,1 0 0,-1 0 0,1 0 0,0 0 0,0 0 0,-1 0 0,1 0 0,0-1 0,0 1 0,0 0 0,0-1 0,-1-1 0,2 2 0,0 0 0,0 1 0,0-1 0,0 0 0,0 1 0,0-1 0,0 0 0,0 0 0,1 1 0,-1-1 0,0 0 0,0 1 0,1-1 0,-1 0 0,0 1 0,1-1 0,-1 0 0,1 1 0,-1-1 0,1 1 0,0-2 0,1 1 0,0-1 0,0 1 0,0-1 0,0 1 0,0 0 0,0 0 0,1 0 0,-1 0 0,3-1 0,22-4-1365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661" y="7800395"/>
            <a:ext cx="1612197" cy="30514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660" y="7800395"/>
            <a:ext cx="1612197" cy="305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09" y="309448"/>
            <a:ext cx="3059429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058" y="2292095"/>
            <a:ext cx="8239759" cy="554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7.png"/><Relationship Id="rId3" Type="http://schemas.openxmlformats.org/officeDocument/2006/relationships/image" Target="../media/image22.jpg"/><Relationship Id="rId7" Type="http://schemas.openxmlformats.org/officeDocument/2006/relationships/customXml" Target="../ink/ink2.xml"/><Relationship Id="rId12" Type="http://schemas.openxmlformats.org/officeDocument/2006/relationships/customXml" Target="../ink/ink5.xml"/><Relationship Id="rId17" Type="http://schemas.openxmlformats.org/officeDocument/2006/relationships/image" Target="../media/image29.png"/><Relationship Id="rId2" Type="http://schemas.openxmlformats.org/officeDocument/2006/relationships/hyperlink" Target="https://gamma.app/?utm_source=made-with-gamma" TargetMode="Externa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6.png"/><Relationship Id="rId5" Type="http://schemas.openxmlformats.org/officeDocument/2006/relationships/customXml" Target="../ink/ink1.xml"/><Relationship Id="rId15" Type="http://schemas.openxmlformats.org/officeDocument/2006/relationships/image" Target="../media/image28.png"/><Relationship Id="rId10" Type="http://schemas.openxmlformats.org/officeDocument/2006/relationships/customXml" Target="../ink/ink4.xml"/><Relationship Id="rId4" Type="http://schemas.openxmlformats.org/officeDocument/2006/relationships/image" Target="../media/image23.png"/><Relationship Id="rId9" Type="http://schemas.openxmlformats.org/officeDocument/2006/relationships/customXml" Target="../ink/ink3.xml"/><Relationship Id="rId1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68339" y="858139"/>
            <a:ext cx="7367905" cy="212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100" dirty="0"/>
              <a:t>Adaptive</a:t>
            </a:r>
            <a:r>
              <a:rPr sz="4450" spc="-350" dirty="0"/>
              <a:t> </a:t>
            </a:r>
            <a:r>
              <a:rPr sz="4450" spc="-365" dirty="0"/>
              <a:t>On-</a:t>
            </a:r>
            <a:r>
              <a:rPr sz="4450" spc="-220" dirty="0"/>
              <a:t>Ramp</a:t>
            </a:r>
            <a:r>
              <a:rPr sz="4450" spc="-345" dirty="0"/>
              <a:t> </a:t>
            </a:r>
            <a:r>
              <a:rPr sz="4450" spc="-290" dirty="0"/>
              <a:t>Merging</a:t>
            </a:r>
            <a:endParaRPr sz="4450"/>
          </a:p>
          <a:p>
            <a:pPr marL="12700" marR="5080">
              <a:lnSpc>
                <a:spcPct val="104800"/>
              </a:lnSpc>
              <a:spcBef>
                <a:spcPts val="10"/>
              </a:spcBef>
            </a:pPr>
            <a:r>
              <a:rPr sz="4450" spc="-95" dirty="0"/>
              <a:t>Strategy</a:t>
            </a:r>
            <a:r>
              <a:rPr sz="4450" spc="-340" dirty="0"/>
              <a:t> </a:t>
            </a:r>
            <a:r>
              <a:rPr sz="4450" spc="-240" dirty="0"/>
              <a:t>under</a:t>
            </a:r>
            <a:r>
              <a:rPr sz="4450" spc="-320" dirty="0"/>
              <a:t> </a:t>
            </a:r>
            <a:r>
              <a:rPr sz="4450" spc="-80" dirty="0"/>
              <a:t>Imperfect </a:t>
            </a:r>
            <a:r>
              <a:rPr sz="4450" spc="-225" dirty="0"/>
              <a:t>Communication</a:t>
            </a:r>
            <a:r>
              <a:rPr sz="4450" spc="-305" dirty="0"/>
              <a:t> </a:t>
            </a:r>
            <a:r>
              <a:rPr sz="4450" spc="-155" dirty="0"/>
              <a:t>Performance</a:t>
            </a:r>
            <a:endParaRPr sz="4450"/>
          </a:p>
        </p:txBody>
      </p:sp>
      <p:sp>
        <p:nvSpPr>
          <p:cNvPr id="4" name="object 4"/>
          <p:cNvSpPr/>
          <p:nvPr/>
        </p:nvSpPr>
        <p:spPr>
          <a:xfrm>
            <a:off x="6280403" y="3371088"/>
            <a:ext cx="30480" cy="1236345"/>
          </a:xfrm>
          <a:custGeom>
            <a:avLst/>
            <a:gdLst/>
            <a:ahLst/>
            <a:cxnLst/>
            <a:rect l="l" t="t" r="r" b="b"/>
            <a:pathLst>
              <a:path w="30479" h="1236345">
                <a:moveTo>
                  <a:pt x="30479" y="0"/>
                </a:moveTo>
                <a:lnTo>
                  <a:pt x="0" y="0"/>
                </a:lnTo>
                <a:lnTo>
                  <a:pt x="0" y="1235964"/>
                </a:lnTo>
                <a:lnTo>
                  <a:pt x="30479" y="1235964"/>
                </a:lnTo>
                <a:lnTo>
                  <a:pt x="30479" y="0"/>
                </a:lnTo>
                <a:close/>
              </a:path>
            </a:pathLst>
          </a:custGeom>
          <a:solidFill>
            <a:srgbClr val="43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10243" y="4946903"/>
            <a:ext cx="2836545" cy="353695"/>
          </a:xfrm>
          <a:custGeom>
            <a:avLst/>
            <a:gdLst/>
            <a:ahLst/>
            <a:cxnLst/>
            <a:rect l="l" t="t" r="r" b="b"/>
            <a:pathLst>
              <a:path w="2836545" h="353695">
                <a:moveTo>
                  <a:pt x="0" y="353567"/>
                </a:moveTo>
                <a:lnTo>
                  <a:pt x="2836163" y="353567"/>
                </a:lnTo>
                <a:lnTo>
                  <a:pt x="2836163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08444" y="3572941"/>
            <a:ext cx="6542405" cy="342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70" dirty="0">
                <a:solidFill>
                  <a:schemeClr val="tx1"/>
                </a:solidFill>
                <a:latin typeface="Arial"/>
                <a:cs typeface="Arial"/>
              </a:rPr>
              <a:t>Communication-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Aware</a:t>
            </a:r>
            <a:r>
              <a:rPr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55" dirty="0">
                <a:solidFill>
                  <a:schemeClr val="tx1"/>
                </a:solidFill>
                <a:latin typeface="Arial"/>
                <a:cs typeface="Arial"/>
              </a:rPr>
              <a:t>Approach</a:t>
            </a:r>
            <a:r>
              <a:rPr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140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pc="85" dirty="0">
                <a:solidFill>
                  <a:schemeClr val="tx1"/>
                </a:solidFill>
                <a:latin typeface="Arial"/>
                <a:cs typeface="Arial"/>
              </a:rPr>
              <a:t>Autonomous</a:t>
            </a:r>
            <a:r>
              <a:rPr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Vehicle</a:t>
            </a:r>
            <a:r>
              <a:rPr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85" dirty="0">
                <a:solidFill>
                  <a:schemeClr val="tx1"/>
                </a:solidFill>
                <a:latin typeface="Arial"/>
                <a:cs typeface="Arial"/>
              </a:rPr>
              <a:t>Control</a:t>
            </a:r>
            <a:r>
              <a:rPr lang="en-US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Experimental Implementation &amp; Agent Comparison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750" dirty="0">
              <a:latin typeface="Arial"/>
              <a:cs typeface="Arial"/>
            </a:endParaRPr>
          </a:p>
          <a:p>
            <a:pPr marL="697230" algn="ctr">
              <a:lnSpc>
                <a:spcPct val="100000"/>
              </a:lnSpc>
            </a:pPr>
            <a:r>
              <a:rPr sz="2500" spc="-125" dirty="0">
                <a:solidFill>
                  <a:srgbClr val="272C45"/>
                </a:solidFill>
                <a:latin typeface="Lucida Sans Unicode"/>
                <a:cs typeface="Lucida Sans Unicode"/>
              </a:rPr>
              <a:t>Team</a:t>
            </a:r>
            <a:r>
              <a:rPr sz="2500" spc="-18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272C45"/>
                </a:solidFill>
                <a:latin typeface="Lucida Sans Unicode"/>
                <a:cs typeface="Lucida Sans Unicode"/>
              </a:rPr>
              <a:t>Members</a:t>
            </a:r>
            <a:endParaRPr sz="2500" dirty="0">
              <a:latin typeface="Lucida Sans Unicode"/>
              <a:cs typeface="Lucida Sans Unicode"/>
            </a:endParaRPr>
          </a:p>
          <a:p>
            <a:pPr marL="2179320" marR="1471930" algn="ctr">
              <a:lnSpc>
                <a:spcPct val="134400"/>
              </a:lnSpc>
              <a:spcBef>
                <a:spcPts val="1950"/>
              </a:spcBef>
            </a:pPr>
            <a:r>
              <a:rPr sz="1800" spc="70" dirty="0">
                <a:solidFill>
                  <a:srgbClr val="2C3148"/>
                </a:solidFill>
                <a:latin typeface="Arial"/>
                <a:cs typeface="Arial"/>
              </a:rPr>
              <a:t>Dhruv</a:t>
            </a:r>
            <a:r>
              <a:rPr sz="1800" spc="114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3148"/>
                </a:solidFill>
                <a:latin typeface="Arial"/>
                <a:cs typeface="Arial"/>
              </a:rPr>
              <a:t>Sandilya</a:t>
            </a:r>
            <a:r>
              <a:rPr sz="1800" spc="1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2C3148"/>
                </a:solidFill>
                <a:latin typeface="Arial"/>
                <a:cs typeface="Arial"/>
              </a:rPr>
              <a:t>(231CS122) </a:t>
            </a:r>
            <a:r>
              <a:rPr sz="1800" dirty="0">
                <a:solidFill>
                  <a:srgbClr val="2C3148"/>
                </a:solidFill>
                <a:latin typeface="Arial"/>
                <a:cs typeface="Arial"/>
              </a:rPr>
              <a:t>Dev</a:t>
            </a:r>
            <a:r>
              <a:rPr sz="180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3148"/>
                </a:solidFill>
                <a:latin typeface="Arial"/>
                <a:cs typeface="Arial"/>
              </a:rPr>
              <a:t>Prajapati(231CS120)</a:t>
            </a:r>
            <a:endParaRPr sz="1800" dirty="0">
              <a:latin typeface="Arial"/>
              <a:cs typeface="Arial"/>
            </a:endParaRPr>
          </a:p>
          <a:p>
            <a:pPr marL="1813560" marR="1105535" algn="ctr">
              <a:lnSpc>
                <a:spcPct val="130000"/>
              </a:lnSpc>
              <a:spcBef>
                <a:spcPts val="100"/>
              </a:spcBef>
            </a:pPr>
            <a:r>
              <a:rPr sz="1800" spc="60" dirty="0">
                <a:solidFill>
                  <a:srgbClr val="2C3148"/>
                </a:solidFill>
                <a:latin typeface="Arial"/>
                <a:cs typeface="Arial"/>
              </a:rPr>
              <a:t>Vrishank</a:t>
            </a:r>
            <a:r>
              <a:rPr sz="180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-150" dirty="0">
                <a:solidFill>
                  <a:srgbClr val="2C3148"/>
                </a:solidFill>
                <a:latin typeface="Arial"/>
                <a:cs typeface="Arial"/>
              </a:rPr>
              <a:t>S</a:t>
            </a:r>
            <a:r>
              <a:rPr sz="180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C3148"/>
                </a:solidFill>
                <a:latin typeface="Arial"/>
                <a:cs typeface="Arial"/>
              </a:rPr>
              <a:t>Honnavalli</a:t>
            </a:r>
            <a:r>
              <a:rPr sz="1800" spc="-35" dirty="0">
                <a:solidFill>
                  <a:srgbClr val="2C3148"/>
                </a:solidFill>
                <a:latin typeface="Arial"/>
                <a:cs typeface="Arial"/>
              </a:rPr>
              <a:t> (231CS165) </a:t>
            </a:r>
            <a:r>
              <a:rPr sz="1800" spc="80" dirty="0">
                <a:solidFill>
                  <a:srgbClr val="2C3148"/>
                </a:solidFill>
                <a:latin typeface="Arial"/>
                <a:cs typeface="Arial"/>
              </a:rPr>
              <a:t>Advaith</a:t>
            </a:r>
            <a:r>
              <a:rPr sz="180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Arial"/>
                <a:cs typeface="Arial"/>
              </a:rPr>
              <a:t>Nair</a:t>
            </a:r>
            <a:r>
              <a:rPr sz="180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3148"/>
                </a:solidFill>
                <a:latin typeface="Arial"/>
                <a:cs typeface="Arial"/>
              </a:rPr>
              <a:t>(231CS205)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hlinkClick r:id="rId3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708" y="985266"/>
            <a:ext cx="279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272C45"/>
                </a:solidFill>
                <a:latin typeface="Lucida Sans Unicode"/>
                <a:cs typeface="Lucida Sans Unicode"/>
              </a:rPr>
              <a:t>Chapter</a:t>
            </a:r>
            <a:r>
              <a:rPr sz="1800" spc="-12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200" dirty="0">
                <a:solidFill>
                  <a:srgbClr val="272C45"/>
                </a:solidFill>
                <a:latin typeface="Lucida Sans Unicode"/>
                <a:cs typeface="Lucida Sans Unicode"/>
              </a:rPr>
              <a:t>I:</a:t>
            </a:r>
            <a:r>
              <a:rPr sz="1800" spc="-12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272C45"/>
                </a:solidFill>
                <a:latin typeface="Lucida Sans Unicode"/>
                <a:cs typeface="Lucida Sans Unicode"/>
              </a:rPr>
              <a:t>Setting</a:t>
            </a:r>
            <a:r>
              <a:rPr sz="1800" spc="-10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72C45"/>
                </a:solidFill>
                <a:latin typeface="Lucida Sans Unicode"/>
                <a:cs typeface="Lucida Sans Unicode"/>
              </a:rPr>
              <a:t>the</a:t>
            </a:r>
            <a:r>
              <a:rPr sz="1800" spc="-13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272C45"/>
                </a:solidFill>
                <a:latin typeface="Lucida Sans Unicode"/>
                <a:cs typeface="Lucida Sans Unicode"/>
              </a:rPr>
              <a:t>Scene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4708" y="1537842"/>
            <a:ext cx="6017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40" dirty="0"/>
              <a:t>The</a:t>
            </a:r>
            <a:r>
              <a:rPr sz="4800" spc="-395" dirty="0"/>
              <a:t> </a:t>
            </a:r>
            <a:r>
              <a:rPr sz="4400" spc="-280" dirty="0"/>
              <a:t>Merging</a:t>
            </a:r>
            <a:r>
              <a:rPr sz="4400" spc="-240" dirty="0"/>
              <a:t> </a:t>
            </a:r>
            <a:r>
              <a:rPr sz="4800" spc="-185" dirty="0"/>
              <a:t>Challenge</a:t>
            </a:r>
            <a:endParaRPr sz="4800"/>
          </a:p>
        </p:txBody>
      </p:sp>
      <p:grpSp>
        <p:nvGrpSpPr>
          <p:cNvPr id="4" name="object 4"/>
          <p:cNvGrpSpPr/>
          <p:nvPr/>
        </p:nvGrpSpPr>
        <p:grpSpPr>
          <a:xfrm>
            <a:off x="597408" y="2662427"/>
            <a:ext cx="3898900" cy="2612390"/>
            <a:chOff x="597408" y="2662427"/>
            <a:chExt cx="3898900" cy="2612390"/>
          </a:xfrm>
        </p:grpSpPr>
        <p:sp>
          <p:nvSpPr>
            <p:cNvPr id="5" name="object 5"/>
            <p:cNvSpPr/>
            <p:nvPr/>
          </p:nvSpPr>
          <p:spPr>
            <a:xfrm>
              <a:off x="621030" y="2673857"/>
              <a:ext cx="3863340" cy="2589530"/>
            </a:xfrm>
            <a:custGeom>
              <a:avLst/>
              <a:gdLst/>
              <a:ahLst/>
              <a:cxnLst/>
              <a:rect l="l" t="t" r="r" b="b"/>
              <a:pathLst>
                <a:path w="3863340" h="2589529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3753612" y="0"/>
                  </a:lnTo>
                  <a:lnTo>
                    <a:pt x="3796313" y="8626"/>
                  </a:lnTo>
                  <a:lnTo>
                    <a:pt x="3831193" y="32146"/>
                  </a:lnTo>
                  <a:lnTo>
                    <a:pt x="3854713" y="67026"/>
                  </a:lnTo>
                  <a:lnTo>
                    <a:pt x="3863340" y="109727"/>
                  </a:lnTo>
                  <a:lnTo>
                    <a:pt x="3863340" y="2479547"/>
                  </a:lnTo>
                  <a:lnTo>
                    <a:pt x="3854713" y="2522249"/>
                  </a:lnTo>
                  <a:lnTo>
                    <a:pt x="3831193" y="2557129"/>
                  </a:lnTo>
                  <a:lnTo>
                    <a:pt x="3796313" y="2580649"/>
                  </a:lnTo>
                  <a:lnTo>
                    <a:pt x="3753612" y="2589275"/>
                  </a:lnTo>
                  <a:lnTo>
                    <a:pt x="109728" y="2589275"/>
                  </a:lnTo>
                  <a:lnTo>
                    <a:pt x="67015" y="2580649"/>
                  </a:lnTo>
                  <a:lnTo>
                    <a:pt x="32137" y="2557129"/>
                  </a:lnTo>
                  <a:lnTo>
                    <a:pt x="8622" y="2522249"/>
                  </a:lnTo>
                  <a:lnTo>
                    <a:pt x="0" y="2479547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408" y="2673095"/>
              <a:ext cx="92075" cy="2589530"/>
            </a:xfrm>
            <a:custGeom>
              <a:avLst/>
              <a:gdLst/>
              <a:ahLst/>
              <a:cxnLst/>
              <a:rect l="l" t="t" r="r" b="b"/>
              <a:pathLst>
                <a:path w="92075" h="2589529">
                  <a:moveTo>
                    <a:pt x="45834" y="0"/>
                  </a:moveTo>
                  <a:lnTo>
                    <a:pt x="27994" y="3609"/>
                  </a:lnTo>
                  <a:lnTo>
                    <a:pt x="13425" y="13446"/>
                  </a:lnTo>
                  <a:lnTo>
                    <a:pt x="3602" y="28021"/>
                  </a:lnTo>
                  <a:lnTo>
                    <a:pt x="0" y="45846"/>
                  </a:lnTo>
                  <a:lnTo>
                    <a:pt x="0" y="2543429"/>
                  </a:lnTo>
                  <a:lnTo>
                    <a:pt x="3602" y="2561254"/>
                  </a:lnTo>
                  <a:lnTo>
                    <a:pt x="13425" y="2575829"/>
                  </a:lnTo>
                  <a:lnTo>
                    <a:pt x="27994" y="2585666"/>
                  </a:lnTo>
                  <a:lnTo>
                    <a:pt x="45834" y="2589276"/>
                  </a:lnTo>
                  <a:lnTo>
                    <a:pt x="63672" y="2585666"/>
                  </a:lnTo>
                  <a:lnTo>
                    <a:pt x="78236" y="2575829"/>
                  </a:lnTo>
                  <a:lnTo>
                    <a:pt x="88055" y="2561254"/>
                  </a:lnTo>
                  <a:lnTo>
                    <a:pt x="91655" y="2543429"/>
                  </a:lnTo>
                  <a:lnTo>
                    <a:pt x="91655" y="45846"/>
                  </a:lnTo>
                  <a:lnTo>
                    <a:pt x="88055" y="28021"/>
                  </a:lnTo>
                  <a:lnTo>
                    <a:pt x="78236" y="13446"/>
                  </a:lnTo>
                  <a:lnTo>
                    <a:pt x="63672" y="3609"/>
                  </a:lnTo>
                  <a:lnTo>
                    <a:pt x="45834" y="0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6401" y="2847593"/>
            <a:ext cx="3415665" cy="154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5" dirty="0">
                <a:solidFill>
                  <a:srgbClr val="2C3148"/>
                </a:solidFill>
                <a:latin typeface="Lucida Sans Unicode"/>
                <a:cs typeface="Lucida Sans Unicode"/>
              </a:rPr>
              <a:t>High-</a:t>
            </a:r>
            <a:r>
              <a:rPr sz="205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Risk</a:t>
            </a:r>
            <a:r>
              <a:rPr sz="2050" spc="-12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Scenario</a:t>
            </a:r>
            <a:endParaRPr sz="2050">
              <a:latin typeface="Lucida Sans Unicode"/>
              <a:cs typeface="Lucida Sans Unicode"/>
            </a:endParaRPr>
          </a:p>
          <a:p>
            <a:pPr marL="12700" marR="5080">
              <a:lnSpc>
                <a:spcPct val="134600"/>
              </a:lnSpc>
              <a:spcBef>
                <a:spcPts val="785"/>
              </a:spcBef>
            </a:pP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On-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ramp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merging</a:t>
            </a:r>
            <a:r>
              <a:rPr sz="135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zones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represent</a:t>
            </a:r>
            <a:r>
              <a:rPr sz="135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critical </a:t>
            </a:r>
            <a:r>
              <a:rPr sz="1350" spc="105" dirty="0">
                <a:solidFill>
                  <a:srgbClr val="2C3148"/>
                </a:solidFill>
                <a:latin typeface="Arial"/>
                <a:cs typeface="Arial"/>
              </a:rPr>
              <a:t>traffic</a:t>
            </a:r>
            <a:r>
              <a:rPr sz="13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bottlenecks</a:t>
            </a:r>
            <a:r>
              <a:rPr sz="13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35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are</a:t>
            </a:r>
            <a:r>
              <a:rPr sz="135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prone</a:t>
            </a:r>
            <a:r>
              <a:rPr sz="135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105" dirty="0">
                <a:solidFill>
                  <a:srgbClr val="2C3148"/>
                </a:solidFill>
                <a:latin typeface="Arial"/>
                <a:cs typeface="Arial"/>
              </a:rPr>
              <a:t>to </a:t>
            </a:r>
            <a:r>
              <a:rPr sz="1350" spc="45" dirty="0">
                <a:solidFill>
                  <a:srgbClr val="2C3148"/>
                </a:solidFill>
                <a:latin typeface="Arial"/>
                <a:cs typeface="Arial"/>
              </a:rPr>
              <a:t>accidents,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demanding</a:t>
            </a:r>
            <a:r>
              <a:rPr sz="135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precise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control</a:t>
            </a:r>
            <a:r>
              <a:rPr sz="135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C3148"/>
                </a:solidFill>
                <a:latin typeface="Arial"/>
                <a:cs typeface="Arial"/>
              </a:rPr>
              <a:t>and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coordination.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37532" y="2662427"/>
            <a:ext cx="3898900" cy="2612390"/>
            <a:chOff x="4637532" y="2662427"/>
            <a:chExt cx="3898900" cy="2612390"/>
          </a:xfrm>
        </p:grpSpPr>
        <p:sp>
          <p:nvSpPr>
            <p:cNvPr id="9" name="object 9"/>
            <p:cNvSpPr/>
            <p:nvPr/>
          </p:nvSpPr>
          <p:spPr>
            <a:xfrm>
              <a:off x="4661154" y="2673857"/>
              <a:ext cx="3863340" cy="2589530"/>
            </a:xfrm>
            <a:custGeom>
              <a:avLst/>
              <a:gdLst/>
              <a:ahLst/>
              <a:cxnLst/>
              <a:rect l="l" t="t" r="r" b="b"/>
              <a:pathLst>
                <a:path w="3863340" h="2589529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3753612" y="0"/>
                  </a:lnTo>
                  <a:lnTo>
                    <a:pt x="3796313" y="8626"/>
                  </a:lnTo>
                  <a:lnTo>
                    <a:pt x="3831193" y="32146"/>
                  </a:lnTo>
                  <a:lnTo>
                    <a:pt x="3854713" y="67026"/>
                  </a:lnTo>
                  <a:lnTo>
                    <a:pt x="3863340" y="109727"/>
                  </a:lnTo>
                  <a:lnTo>
                    <a:pt x="3863340" y="2479547"/>
                  </a:lnTo>
                  <a:lnTo>
                    <a:pt x="3854713" y="2522249"/>
                  </a:lnTo>
                  <a:lnTo>
                    <a:pt x="3831193" y="2557129"/>
                  </a:lnTo>
                  <a:lnTo>
                    <a:pt x="3796313" y="2580649"/>
                  </a:lnTo>
                  <a:lnTo>
                    <a:pt x="3753612" y="2589275"/>
                  </a:lnTo>
                  <a:lnTo>
                    <a:pt x="109728" y="2589275"/>
                  </a:lnTo>
                  <a:lnTo>
                    <a:pt x="67026" y="2580649"/>
                  </a:lnTo>
                  <a:lnTo>
                    <a:pt x="32146" y="2557129"/>
                  </a:lnTo>
                  <a:lnTo>
                    <a:pt x="8626" y="2522249"/>
                  </a:lnTo>
                  <a:lnTo>
                    <a:pt x="0" y="2479547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37532" y="2673095"/>
              <a:ext cx="92075" cy="2589530"/>
            </a:xfrm>
            <a:custGeom>
              <a:avLst/>
              <a:gdLst/>
              <a:ahLst/>
              <a:cxnLst/>
              <a:rect l="l" t="t" r="r" b="b"/>
              <a:pathLst>
                <a:path w="92075" h="2589529">
                  <a:moveTo>
                    <a:pt x="45846" y="0"/>
                  </a:moveTo>
                  <a:lnTo>
                    <a:pt x="28021" y="3609"/>
                  </a:lnTo>
                  <a:lnTo>
                    <a:pt x="13446" y="13446"/>
                  </a:lnTo>
                  <a:lnTo>
                    <a:pt x="3609" y="28021"/>
                  </a:lnTo>
                  <a:lnTo>
                    <a:pt x="0" y="45846"/>
                  </a:lnTo>
                  <a:lnTo>
                    <a:pt x="0" y="2543429"/>
                  </a:lnTo>
                  <a:lnTo>
                    <a:pt x="3609" y="2561254"/>
                  </a:lnTo>
                  <a:lnTo>
                    <a:pt x="13446" y="2575829"/>
                  </a:lnTo>
                  <a:lnTo>
                    <a:pt x="28021" y="2585666"/>
                  </a:lnTo>
                  <a:lnTo>
                    <a:pt x="45846" y="2589276"/>
                  </a:lnTo>
                  <a:lnTo>
                    <a:pt x="63672" y="2585666"/>
                  </a:lnTo>
                  <a:lnTo>
                    <a:pt x="78247" y="2575829"/>
                  </a:lnTo>
                  <a:lnTo>
                    <a:pt x="88084" y="2561254"/>
                  </a:lnTo>
                  <a:lnTo>
                    <a:pt x="91693" y="2543429"/>
                  </a:lnTo>
                  <a:lnTo>
                    <a:pt x="91693" y="45846"/>
                  </a:lnTo>
                  <a:lnTo>
                    <a:pt x="88084" y="28021"/>
                  </a:lnTo>
                  <a:lnTo>
                    <a:pt x="78247" y="13446"/>
                  </a:lnTo>
                  <a:lnTo>
                    <a:pt x="63672" y="3609"/>
                  </a:lnTo>
                  <a:lnTo>
                    <a:pt x="45846" y="0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17185" y="2832658"/>
            <a:ext cx="3092450" cy="2172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83895">
              <a:lnSpc>
                <a:spcPct val="105400"/>
              </a:lnSpc>
              <a:spcBef>
                <a:spcPts val="95"/>
              </a:spcBef>
            </a:pPr>
            <a:r>
              <a:rPr sz="2050" spc="-60" dirty="0">
                <a:solidFill>
                  <a:srgbClr val="2C3148"/>
                </a:solidFill>
                <a:latin typeface="Lucida Sans Unicode"/>
                <a:cs typeface="Lucida Sans Unicode"/>
              </a:rPr>
              <a:t>V2V</a:t>
            </a:r>
            <a:r>
              <a:rPr sz="2050" spc="-17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05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Communication </a:t>
            </a:r>
            <a:r>
              <a:rPr sz="20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Reliance</a:t>
            </a:r>
            <a:endParaRPr sz="2050">
              <a:latin typeface="Lucida Sans Unicode"/>
              <a:cs typeface="Lucida Sans Unicode"/>
            </a:endParaRPr>
          </a:p>
          <a:p>
            <a:pPr marL="12700" marR="5080">
              <a:lnSpc>
                <a:spcPct val="134800"/>
              </a:lnSpc>
              <a:spcBef>
                <a:spcPts val="800"/>
              </a:spcBef>
            </a:pP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Current</a:t>
            </a:r>
            <a:r>
              <a:rPr sz="13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cooperative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merging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systems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depend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45" dirty="0">
                <a:solidFill>
                  <a:srgbClr val="2C3148"/>
                </a:solidFill>
                <a:latin typeface="Arial"/>
                <a:cs typeface="Arial"/>
              </a:rPr>
              <a:t>heavily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on</a:t>
            </a:r>
            <a:r>
              <a:rPr sz="1350" spc="1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Vehicle-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to-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Vehicle </a:t>
            </a:r>
            <a:r>
              <a:rPr sz="1350" spc="-20" dirty="0">
                <a:solidFill>
                  <a:srgbClr val="2C3148"/>
                </a:solidFill>
                <a:latin typeface="Arial"/>
                <a:cs typeface="Arial"/>
              </a:rPr>
              <a:t>(V2V)</a:t>
            </a:r>
            <a:r>
              <a:rPr sz="135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10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35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sharing </a:t>
            </a:r>
            <a:r>
              <a:rPr sz="1350" spc="45" dirty="0">
                <a:solidFill>
                  <a:srgbClr val="2C3148"/>
                </a:solidFill>
                <a:latin typeface="Arial"/>
                <a:cs typeface="Arial"/>
              </a:rPr>
              <a:t>essential</a:t>
            </a:r>
            <a:r>
              <a:rPr sz="1350" spc="-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C3148"/>
                </a:solidFill>
                <a:latin typeface="Arial"/>
                <a:cs typeface="Arial"/>
              </a:rPr>
              <a:t>state</a:t>
            </a:r>
            <a:r>
              <a:rPr sz="135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sz="135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(position,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speed,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intention).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7408" y="5428488"/>
            <a:ext cx="3898900" cy="1713230"/>
            <a:chOff x="597408" y="5428488"/>
            <a:chExt cx="3898900" cy="1713230"/>
          </a:xfrm>
        </p:grpSpPr>
        <p:sp>
          <p:nvSpPr>
            <p:cNvPr id="13" name="object 13"/>
            <p:cNvSpPr/>
            <p:nvPr/>
          </p:nvSpPr>
          <p:spPr>
            <a:xfrm>
              <a:off x="621030" y="5439918"/>
              <a:ext cx="3863340" cy="1690370"/>
            </a:xfrm>
            <a:custGeom>
              <a:avLst/>
              <a:gdLst/>
              <a:ahLst/>
              <a:cxnLst/>
              <a:rect l="l" t="t" r="r" b="b"/>
              <a:pathLst>
                <a:path w="3863340" h="1690370">
                  <a:moveTo>
                    <a:pt x="0" y="109727"/>
                  </a:moveTo>
                  <a:lnTo>
                    <a:pt x="8626" y="67026"/>
                  </a:lnTo>
                  <a:lnTo>
                    <a:pt x="32153" y="32146"/>
                  </a:lnTo>
                  <a:lnTo>
                    <a:pt x="67047" y="8626"/>
                  </a:lnTo>
                  <a:lnTo>
                    <a:pt x="109778" y="0"/>
                  </a:lnTo>
                  <a:lnTo>
                    <a:pt x="3753612" y="0"/>
                  </a:lnTo>
                  <a:lnTo>
                    <a:pt x="3796313" y="8626"/>
                  </a:lnTo>
                  <a:lnTo>
                    <a:pt x="3831193" y="32146"/>
                  </a:lnTo>
                  <a:lnTo>
                    <a:pt x="3854713" y="67026"/>
                  </a:lnTo>
                  <a:lnTo>
                    <a:pt x="3863340" y="109727"/>
                  </a:lnTo>
                  <a:lnTo>
                    <a:pt x="3863340" y="1580337"/>
                  </a:lnTo>
                  <a:lnTo>
                    <a:pt x="3854713" y="1623068"/>
                  </a:lnTo>
                  <a:lnTo>
                    <a:pt x="3831193" y="1657962"/>
                  </a:lnTo>
                  <a:lnTo>
                    <a:pt x="3796313" y="1681489"/>
                  </a:lnTo>
                  <a:lnTo>
                    <a:pt x="3753612" y="1690115"/>
                  </a:lnTo>
                  <a:lnTo>
                    <a:pt x="109778" y="1690115"/>
                  </a:lnTo>
                  <a:lnTo>
                    <a:pt x="67047" y="1681489"/>
                  </a:lnTo>
                  <a:lnTo>
                    <a:pt x="32153" y="1657962"/>
                  </a:lnTo>
                  <a:lnTo>
                    <a:pt x="8626" y="1623068"/>
                  </a:lnTo>
                  <a:lnTo>
                    <a:pt x="0" y="1580337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7408" y="5439156"/>
              <a:ext cx="91440" cy="1690370"/>
            </a:xfrm>
            <a:custGeom>
              <a:avLst/>
              <a:gdLst/>
              <a:ahLst/>
              <a:cxnLst/>
              <a:rect l="l" t="t" r="r" b="b"/>
              <a:pathLst>
                <a:path w="91440" h="1690370">
                  <a:moveTo>
                    <a:pt x="45720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644396"/>
                  </a:lnTo>
                  <a:lnTo>
                    <a:pt x="3593" y="1662191"/>
                  </a:lnTo>
                  <a:lnTo>
                    <a:pt x="13392" y="1676723"/>
                  </a:lnTo>
                  <a:lnTo>
                    <a:pt x="27924" y="1686522"/>
                  </a:lnTo>
                  <a:lnTo>
                    <a:pt x="45720" y="1690116"/>
                  </a:lnTo>
                  <a:lnTo>
                    <a:pt x="63515" y="1686522"/>
                  </a:lnTo>
                  <a:lnTo>
                    <a:pt x="78047" y="1676723"/>
                  </a:lnTo>
                  <a:lnTo>
                    <a:pt x="87846" y="1662191"/>
                  </a:lnTo>
                  <a:lnTo>
                    <a:pt x="91440" y="1644396"/>
                  </a:lnTo>
                  <a:lnTo>
                    <a:pt x="91440" y="45720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6401" y="5614161"/>
            <a:ext cx="3291204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50" spc="-90" dirty="0">
                <a:solidFill>
                  <a:srgbClr val="2C3148"/>
                </a:solidFill>
                <a:latin typeface="Lucida Sans Unicode"/>
                <a:cs typeface="Lucida Sans Unicode"/>
              </a:rPr>
              <a:t>Real-World</a:t>
            </a:r>
            <a:r>
              <a:rPr sz="2050" spc="-12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Imperfection</a:t>
            </a:r>
            <a:endParaRPr sz="205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34100"/>
              </a:lnSpc>
              <a:spcBef>
                <a:spcPts val="795"/>
              </a:spcBef>
            </a:pPr>
            <a:r>
              <a:rPr sz="1350" spc="70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channels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are</a:t>
            </a:r>
            <a:r>
              <a:rPr sz="1350" spc="8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inherently </a:t>
            </a:r>
            <a:r>
              <a:rPr sz="1350" spc="30" dirty="0">
                <a:solidFill>
                  <a:srgbClr val="2C3148"/>
                </a:solidFill>
                <a:latin typeface="Arial"/>
                <a:cs typeface="Arial"/>
              </a:rPr>
              <a:t>unreliable,</a:t>
            </a:r>
            <a:r>
              <a:rPr sz="13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C3148"/>
                </a:solidFill>
                <a:latin typeface="Arial"/>
                <a:cs typeface="Arial"/>
              </a:rPr>
              <a:t>featuring</a:t>
            </a:r>
            <a:r>
              <a:rPr sz="135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realistic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challenges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such</a:t>
            </a:r>
            <a:r>
              <a:rPr sz="1350" spc="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as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signal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15F7A"/>
                </a:solidFill>
                <a:latin typeface="Arial"/>
                <a:cs typeface="Arial"/>
              </a:rPr>
              <a:t>delay</a:t>
            </a:r>
            <a:r>
              <a:rPr sz="1350" spc="70" dirty="0">
                <a:solidFill>
                  <a:srgbClr val="315F7A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15F7A"/>
                </a:solidFill>
                <a:latin typeface="Arial"/>
                <a:cs typeface="Arial"/>
              </a:rPr>
              <a:t>and</a:t>
            </a:r>
            <a:r>
              <a:rPr sz="1350" spc="65" dirty="0">
                <a:solidFill>
                  <a:srgbClr val="315F7A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15F7A"/>
                </a:solidFill>
                <a:latin typeface="Arial"/>
                <a:cs typeface="Arial"/>
              </a:rPr>
              <a:t>packet</a:t>
            </a:r>
            <a:r>
              <a:rPr sz="1350" spc="45" dirty="0">
                <a:solidFill>
                  <a:srgbClr val="315F7A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15F7A"/>
                </a:solidFill>
                <a:latin typeface="Arial"/>
                <a:cs typeface="Arial"/>
              </a:rPr>
              <a:t>loss</a:t>
            </a:r>
            <a:r>
              <a:rPr sz="1350" spc="-20" dirty="0">
                <a:solidFill>
                  <a:srgbClr val="2C3148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26669" y="7694421"/>
            <a:ext cx="1847850" cy="459740"/>
            <a:chOff x="12726669" y="7694421"/>
            <a:chExt cx="1847850" cy="459740"/>
          </a:xfrm>
        </p:grpSpPr>
        <p:sp>
          <p:nvSpPr>
            <p:cNvPr id="3" name="object 3"/>
            <p:cNvSpPr/>
            <p:nvPr/>
          </p:nvSpPr>
          <p:spPr>
            <a:xfrm>
              <a:off x="12733019" y="7700771"/>
              <a:ext cx="1835150" cy="447040"/>
            </a:xfrm>
            <a:custGeom>
              <a:avLst/>
              <a:gdLst/>
              <a:ahLst/>
              <a:cxnLst/>
              <a:rect l="l" t="t" r="r" b="b"/>
              <a:pathLst>
                <a:path w="1835150" h="447040">
                  <a:moveTo>
                    <a:pt x="1834895" y="0"/>
                  </a:moveTo>
                  <a:lnTo>
                    <a:pt x="0" y="0"/>
                  </a:lnTo>
                  <a:lnTo>
                    <a:pt x="0" y="446531"/>
                  </a:lnTo>
                  <a:lnTo>
                    <a:pt x="1834895" y="44653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733019" y="7700771"/>
              <a:ext cx="1835150" cy="447040"/>
            </a:xfrm>
            <a:custGeom>
              <a:avLst/>
              <a:gdLst/>
              <a:ahLst/>
              <a:cxnLst/>
              <a:rect l="l" t="t" r="r" b="b"/>
              <a:pathLst>
                <a:path w="1835150" h="447040">
                  <a:moveTo>
                    <a:pt x="0" y="446531"/>
                  </a:moveTo>
                  <a:lnTo>
                    <a:pt x="1834895" y="44653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4653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4" y="906856"/>
            <a:ext cx="2428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272C45"/>
                </a:solidFill>
                <a:latin typeface="Lucida Sans Unicode"/>
                <a:cs typeface="Lucida Sans Unicode"/>
              </a:rPr>
              <a:t>Identifying</a:t>
            </a:r>
            <a:r>
              <a:rPr sz="1800" spc="-9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272C45"/>
                </a:solidFill>
                <a:latin typeface="Lucida Sans Unicode"/>
                <a:cs typeface="Lucida Sans Unicode"/>
              </a:rPr>
              <a:t>the</a:t>
            </a:r>
            <a:r>
              <a:rPr sz="1800" spc="-11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272C45"/>
                </a:solidFill>
                <a:latin typeface="Lucida Sans Unicode"/>
                <a:cs typeface="Lucida Sans Unicode"/>
              </a:rPr>
              <a:t>Problem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20344" y="1527505"/>
            <a:ext cx="998347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spc="-275" dirty="0"/>
              <a:t>The</a:t>
            </a:r>
            <a:r>
              <a:rPr sz="5600" spc="-475" dirty="0"/>
              <a:t> </a:t>
            </a:r>
            <a:r>
              <a:rPr sz="5600" spc="-260" dirty="0"/>
              <a:t>Unaddressed</a:t>
            </a:r>
            <a:r>
              <a:rPr sz="5600" spc="-450" dirty="0"/>
              <a:t> </a:t>
            </a:r>
            <a:r>
              <a:rPr sz="5600" spc="-240" dirty="0"/>
              <a:t>Research</a:t>
            </a:r>
            <a:r>
              <a:rPr sz="5600" spc="-450" dirty="0"/>
              <a:t> </a:t>
            </a:r>
            <a:r>
              <a:rPr sz="5600" spc="-330" dirty="0"/>
              <a:t>Gap</a:t>
            </a:r>
            <a:endParaRPr sz="5600"/>
          </a:p>
        </p:txBody>
      </p:sp>
      <p:sp>
        <p:nvSpPr>
          <p:cNvPr id="7" name="object 7"/>
          <p:cNvSpPr txBox="1"/>
          <p:nvPr/>
        </p:nvSpPr>
        <p:spPr>
          <a:xfrm>
            <a:off x="780694" y="2757969"/>
            <a:ext cx="12701270" cy="725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85"/>
              </a:spcBef>
            </a:pP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Existing</a:t>
            </a:r>
            <a:r>
              <a:rPr sz="17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Arial"/>
                <a:cs typeface="Arial"/>
              </a:rPr>
              <a:t>autonomous</a:t>
            </a:r>
            <a:r>
              <a:rPr sz="17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merging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Arial"/>
                <a:cs typeface="Arial"/>
              </a:rPr>
              <a:t>models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Arial"/>
                <a:cs typeface="Arial"/>
              </a:rPr>
              <a:t>typically</a:t>
            </a:r>
            <a:r>
              <a:rPr sz="17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assume</a:t>
            </a:r>
            <a:r>
              <a:rPr sz="175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an</a:t>
            </a:r>
            <a:r>
              <a:rPr sz="175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ideal,</a:t>
            </a:r>
            <a:r>
              <a:rPr sz="175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flawless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75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network,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leading</a:t>
            </a:r>
            <a:r>
              <a:rPr sz="17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sz="1750" spc="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Arial"/>
                <a:cs typeface="Arial"/>
              </a:rPr>
              <a:t>potentially </a:t>
            </a:r>
            <a:r>
              <a:rPr sz="1750" spc="10" dirty="0">
                <a:solidFill>
                  <a:srgbClr val="2C3148"/>
                </a:solidFill>
                <a:latin typeface="Arial"/>
                <a:cs typeface="Arial"/>
              </a:rPr>
              <a:t>dangerous</a:t>
            </a:r>
            <a:r>
              <a:rPr sz="17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Arial"/>
                <a:cs typeface="Arial"/>
              </a:rPr>
              <a:t>or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Arial"/>
                <a:cs typeface="Arial"/>
              </a:rPr>
              <a:t>inefficient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Arial"/>
                <a:cs typeface="Arial"/>
              </a:rPr>
              <a:t>control</a:t>
            </a:r>
            <a:r>
              <a:rPr sz="17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2C3148"/>
                </a:solidFill>
                <a:latin typeface="Arial"/>
                <a:cs typeface="Arial"/>
              </a:rPr>
              <a:t>decisions</a:t>
            </a:r>
            <a:r>
              <a:rPr sz="180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Arial"/>
                <a:cs typeface="Arial"/>
              </a:rPr>
              <a:t>when</a:t>
            </a:r>
            <a:r>
              <a:rPr sz="175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deployed</a:t>
            </a:r>
            <a:r>
              <a:rPr sz="175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Arial"/>
                <a:cs typeface="Arial"/>
              </a:rPr>
              <a:t>in</a:t>
            </a:r>
            <a:r>
              <a:rPr sz="17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Arial"/>
                <a:cs typeface="Arial"/>
              </a:rPr>
              <a:t>realistic</a:t>
            </a:r>
            <a:r>
              <a:rPr sz="175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settings.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004" y="3877055"/>
            <a:ext cx="4196080" cy="680085"/>
            <a:chOff x="794004" y="3877055"/>
            <a:chExt cx="4196080" cy="680085"/>
          </a:xfrm>
        </p:grpSpPr>
        <p:sp>
          <p:nvSpPr>
            <p:cNvPr id="9" name="object 9"/>
            <p:cNvSpPr/>
            <p:nvPr/>
          </p:nvSpPr>
          <p:spPr>
            <a:xfrm>
              <a:off x="794004" y="3877055"/>
              <a:ext cx="4196080" cy="680085"/>
            </a:xfrm>
            <a:custGeom>
              <a:avLst/>
              <a:gdLst/>
              <a:ahLst/>
              <a:cxnLst/>
              <a:rect l="l" t="t" r="r" b="b"/>
              <a:pathLst>
                <a:path w="4196080" h="680085">
                  <a:moveTo>
                    <a:pt x="4195572" y="370332"/>
                  </a:moveTo>
                  <a:lnTo>
                    <a:pt x="4190771" y="346621"/>
                  </a:lnTo>
                  <a:lnTo>
                    <a:pt x="4177703" y="327240"/>
                  </a:lnTo>
                  <a:lnTo>
                    <a:pt x="4158323" y="314172"/>
                  </a:lnTo>
                  <a:lnTo>
                    <a:pt x="4134612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97024" y="0"/>
                  </a:lnTo>
                  <a:lnTo>
                    <a:pt x="2050897" y="3111"/>
                  </a:lnTo>
                  <a:lnTo>
                    <a:pt x="2006663" y="12141"/>
                  </a:lnTo>
                  <a:lnTo>
                    <a:pt x="1964728" y="26708"/>
                  </a:lnTo>
                  <a:lnTo>
                    <a:pt x="1925485" y="46405"/>
                  </a:lnTo>
                  <a:lnTo>
                    <a:pt x="1889340" y="70815"/>
                  </a:lnTo>
                  <a:lnTo>
                    <a:pt x="1856701" y="99542"/>
                  </a:lnTo>
                  <a:lnTo>
                    <a:pt x="1827974" y="132181"/>
                  </a:lnTo>
                  <a:lnTo>
                    <a:pt x="1803565" y="168325"/>
                  </a:lnTo>
                  <a:lnTo>
                    <a:pt x="1783867" y="207568"/>
                  </a:lnTo>
                  <a:lnTo>
                    <a:pt x="1769300" y="249504"/>
                  </a:lnTo>
                  <a:lnTo>
                    <a:pt x="1760270" y="293738"/>
                  </a:lnTo>
                  <a:lnTo>
                    <a:pt x="1759216" y="309372"/>
                  </a:lnTo>
                  <a:lnTo>
                    <a:pt x="60960" y="309372"/>
                  </a:lnTo>
                  <a:lnTo>
                    <a:pt x="37223" y="314172"/>
                  </a:lnTo>
                  <a:lnTo>
                    <a:pt x="17843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43" y="413435"/>
                  </a:lnTo>
                  <a:lnTo>
                    <a:pt x="37223" y="426504"/>
                  </a:lnTo>
                  <a:lnTo>
                    <a:pt x="60960" y="431292"/>
                  </a:lnTo>
                  <a:lnTo>
                    <a:pt x="1769668" y="431292"/>
                  </a:lnTo>
                  <a:lnTo>
                    <a:pt x="1783867" y="472147"/>
                  </a:lnTo>
                  <a:lnTo>
                    <a:pt x="1803565" y="511390"/>
                  </a:lnTo>
                  <a:lnTo>
                    <a:pt x="1827974" y="547535"/>
                  </a:lnTo>
                  <a:lnTo>
                    <a:pt x="1856701" y="580174"/>
                  </a:lnTo>
                  <a:lnTo>
                    <a:pt x="1889340" y="608901"/>
                  </a:lnTo>
                  <a:lnTo>
                    <a:pt x="1925485" y="633310"/>
                  </a:lnTo>
                  <a:lnTo>
                    <a:pt x="1964728" y="653008"/>
                  </a:lnTo>
                  <a:lnTo>
                    <a:pt x="2006663" y="667575"/>
                  </a:lnTo>
                  <a:lnTo>
                    <a:pt x="2050897" y="676605"/>
                  </a:lnTo>
                  <a:lnTo>
                    <a:pt x="2097024" y="679704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4612" y="431292"/>
                  </a:lnTo>
                  <a:lnTo>
                    <a:pt x="4158323" y="426504"/>
                  </a:lnTo>
                  <a:lnTo>
                    <a:pt x="4177703" y="413435"/>
                  </a:lnTo>
                  <a:lnTo>
                    <a:pt x="4190771" y="394055"/>
                  </a:lnTo>
                  <a:lnTo>
                    <a:pt x="4195572" y="370332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392" y="4047743"/>
              <a:ext cx="272795" cy="3398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38555" y="4758690"/>
            <a:ext cx="3580765" cy="193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2C3148"/>
                </a:solidFill>
                <a:latin typeface="Lucida Sans Unicode"/>
                <a:cs typeface="Lucida Sans Unicode"/>
              </a:rPr>
              <a:t>Flawed</a:t>
            </a:r>
            <a:r>
              <a:rPr sz="2200" spc="-16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Assumptions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6600"/>
              </a:lnSpc>
              <a:spcBef>
                <a:spcPts val="940"/>
              </a:spcBef>
            </a:pP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Most</a:t>
            </a:r>
            <a:r>
              <a:rPr sz="175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Arial"/>
                <a:cs typeface="Arial"/>
              </a:rPr>
              <a:t>existing</a:t>
            </a:r>
            <a:r>
              <a:rPr sz="17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Arial"/>
                <a:cs typeface="Arial"/>
              </a:rPr>
              <a:t>control</a:t>
            </a:r>
            <a:r>
              <a:rPr sz="17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45" dirty="0">
                <a:solidFill>
                  <a:srgbClr val="2C3148"/>
                </a:solidFill>
                <a:latin typeface="Arial"/>
                <a:cs typeface="Arial"/>
              </a:rPr>
              <a:t>models </a:t>
            </a:r>
            <a:r>
              <a:rPr sz="1750" spc="70" dirty="0">
                <a:solidFill>
                  <a:srgbClr val="2C3148"/>
                </a:solidFill>
                <a:latin typeface="Arial"/>
                <a:cs typeface="Arial"/>
              </a:rPr>
              <a:t>operate</a:t>
            </a:r>
            <a:r>
              <a:rPr sz="175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Arial"/>
                <a:cs typeface="Arial"/>
              </a:rPr>
              <a:t>under</a:t>
            </a:r>
            <a:r>
              <a:rPr sz="175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750" spc="-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Arial"/>
                <a:cs typeface="Arial"/>
              </a:rPr>
              <a:t>assumption</a:t>
            </a:r>
            <a:r>
              <a:rPr sz="17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Arial"/>
                <a:cs typeface="Arial"/>
              </a:rPr>
              <a:t>of </a:t>
            </a:r>
            <a:r>
              <a:rPr sz="1750" b="1" dirty="0">
                <a:solidFill>
                  <a:srgbClr val="2C3148"/>
                </a:solidFill>
                <a:latin typeface="Arial"/>
                <a:cs typeface="Arial"/>
              </a:rPr>
              <a:t>perfect,</a:t>
            </a:r>
            <a:r>
              <a:rPr sz="1750" b="1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Arial"/>
                <a:cs typeface="Arial"/>
              </a:rPr>
              <a:t>real-</a:t>
            </a:r>
            <a:r>
              <a:rPr sz="1750" b="1" spc="55" dirty="0">
                <a:solidFill>
                  <a:srgbClr val="2C3148"/>
                </a:solidFill>
                <a:latin typeface="Arial"/>
                <a:cs typeface="Arial"/>
              </a:rPr>
              <a:t>time</a:t>
            </a:r>
            <a:r>
              <a:rPr sz="1750" b="1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Arial"/>
                <a:cs typeface="Arial"/>
              </a:rPr>
              <a:t>communication </a:t>
            </a:r>
            <a:r>
              <a:rPr sz="1750" spc="75" dirty="0">
                <a:solidFill>
                  <a:srgbClr val="2C3148"/>
                </a:solidFill>
                <a:latin typeface="Arial"/>
                <a:cs typeface="Arial"/>
              </a:rPr>
              <a:t>between</a:t>
            </a:r>
            <a:r>
              <a:rPr sz="1750" spc="-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Arial"/>
                <a:cs typeface="Arial"/>
              </a:rPr>
              <a:t>vehicles.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16652" y="3877055"/>
            <a:ext cx="4197350" cy="680085"/>
            <a:chOff x="5216652" y="3877055"/>
            <a:chExt cx="4197350" cy="680085"/>
          </a:xfrm>
        </p:grpSpPr>
        <p:sp>
          <p:nvSpPr>
            <p:cNvPr id="13" name="object 13"/>
            <p:cNvSpPr/>
            <p:nvPr/>
          </p:nvSpPr>
          <p:spPr>
            <a:xfrm>
              <a:off x="5216652" y="3877055"/>
              <a:ext cx="4197350" cy="680085"/>
            </a:xfrm>
            <a:custGeom>
              <a:avLst/>
              <a:gdLst/>
              <a:ahLst/>
              <a:cxnLst/>
              <a:rect l="l" t="t" r="r" b="b"/>
              <a:pathLst>
                <a:path w="4197350" h="680085">
                  <a:moveTo>
                    <a:pt x="4197096" y="370332"/>
                  </a:moveTo>
                  <a:lnTo>
                    <a:pt x="4192295" y="346621"/>
                  </a:lnTo>
                  <a:lnTo>
                    <a:pt x="4179227" y="327240"/>
                  </a:lnTo>
                  <a:lnTo>
                    <a:pt x="4159847" y="314172"/>
                  </a:lnTo>
                  <a:lnTo>
                    <a:pt x="4136136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52421" y="3111"/>
                  </a:lnTo>
                  <a:lnTo>
                    <a:pt x="2008187" y="12141"/>
                  </a:lnTo>
                  <a:lnTo>
                    <a:pt x="1966252" y="26708"/>
                  </a:lnTo>
                  <a:lnTo>
                    <a:pt x="1927009" y="46405"/>
                  </a:lnTo>
                  <a:lnTo>
                    <a:pt x="1890864" y="70815"/>
                  </a:lnTo>
                  <a:lnTo>
                    <a:pt x="1858225" y="99542"/>
                  </a:lnTo>
                  <a:lnTo>
                    <a:pt x="1829498" y="132181"/>
                  </a:lnTo>
                  <a:lnTo>
                    <a:pt x="1805089" y="168325"/>
                  </a:lnTo>
                  <a:lnTo>
                    <a:pt x="1785391" y="207568"/>
                  </a:lnTo>
                  <a:lnTo>
                    <a:pt x="1770824" y="249504"/>
                  </a:lnTo>
                  <a:lnTo>
                    <a:pt x="1761794" y="293738"/>
                  </a:lnTo>
                  <a:lnTo>
                    <a:pt x="1760740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1771192" y="431292"/>
                  </a:lnTo>
                  <a:lnTo>
                    <a:pt x="1785391" y="472147"/>
                  </a:lnTo>
                  <a:lnTo>
                    <a:pt x="1805089" y="511390"/>
                  </a:lnTo>
                  <a:lnTo>
                    <a:pt x="1829498" y="547535"/>
                  </a:lnTo>
                  <a:lnTo>
                    <a:pt x="1858225" y="580174"/>
                  </a:lnTo>
                  <a:lnTo>
                    <a:pt x="1890864" y="608901"/>
                  </a:lnTo>
                  <a:lnTo>
                    <a:pt x="1927009" y="633310"/>
                  </a:lnTo>
                  <a:lnTo>
                    <a:pt x="1966252" y="653008"/>
                  </a:lnTo>
                  <a:lnTo>
                    <a:pt x="2008187" y="667575"/>
                  </a:lnTo>
                  <a:lnTo>
                    <a:pt x="2052421" y="676605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6136" y="431292"/>
                  </a:lnTo>
                  <a:lnTo>
                    <a:pt x="4159847" y="426504"/>
                  </a:lnTo>
                  <a:lnTo>
                    <a:pt x="4179227" y="413435"/>
                  </a:lnTo>
                  <a:lnTo>
                    <a:pt x="4192295" y="394055"/>
                  </a:lnTo>
                  <a:lnTo>
                    <a:pt x="4197096" y="370332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9564" y="4047743"/>
              <a:ext cx="271272" cy="33985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62142" y="4758690"/>
            <a:ext cx="3481704" cy="193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0" dirty="0">
                <a:solidFill>
                  <a:srgbClr val="2C3148"/>
                </a:solidFill>
                <a:latin typeface="Lucida Sans Unicode"/>
                <a:cs typeface="Lucida Sans Unicode"/>
              </a:rPr>
              <a:t>Ignoring</a:t>
            </a:r>
            <a:r>
              <a:rPr sz="2200" spc="-14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Reliability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6600"/>
              </a:lnSpc>
              <a:spcBef>
                <a:spcPts val="940"/>
              </a:spcBef>
            </a:pP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There</a:t>
            </a:r>
            <a:r>
              <a:rPr sz="17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is</a:t>
            </a:r>
            <a:r>
              <a:rPr sz="17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a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Arial"/>
                <a:cs typeface="Arial"/>
              </a:rPr>
              <a:t>lack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Arial"/>
                <a:cs typeface="Arial"/>
              </a:rPr>
              <a:t>of</a:t>
            </a:r>
            <a:r>
              <a:rPr sz="175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Arial"/>
                <a:cs typeface="Arial"/>
              </a:rPr>
              <a:t>strategies</a:t>
            </a:r>
            <a:r>
              <a:rPr sz="17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25" dirty="0">
                <a:solidFill>
                  <a:srgbClr val="2C3148"/>
                </a:solidFill>
                <a:latin typeface="Arial"/>
                <a:cs typeface="Arial"/>
              </a:rPr>
              <a:t>that </a:t>
            </a: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explicitly</a:t>
            </a:r>
            <a:r>
              <a:rPr sz="175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Arial"/>
                <a:cs typeface="Arial"/>
              </a:rPr>
              <a:t>quantify</a:t>
            </a:r>
            <a:r>
              <a:rPr sz="1750" b="1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750" b="1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Arial"/>
                <a:cs typeface="Arial"/>
              </a:rPr>
              <a:t>adjust</a:t>
            </a:r>
            <a:r>
              <a:rPr sz="1750" b="1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Arial"/>
                <a:cs typeface="Arial"/>
              </a:rPr>
              <a:t>for </a:t>
            </a:r>
            <a:r>
              <a:rPr sz="1750" spc="60" dirty="0">
                <a:solidFill>
                  <a:srgbClr val="2C3148"/>
                </a:solidFill>
                <a:latin typeface="Arial"/>
                <a:cs typeface="Arial"/>
              </a:rPr>
              <a:t>varying</a:t>
            </a:r>
            <a:r>
              <a:rPr sz="17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7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Arial"/>
                <a:cs typeface="Arial"/>
              </a:rPr>
              <a:t>quality </a:t>
            </a:r>
            <a:r>
              <a:rPr sz="1750" spc="80" dirty="0">
                <a:solidFill>
                  <a:srgbClr val="2C3148"/>
                </a:solidFill>
                <a:latin typeface="Arial"/>
                <a:cs typeface="Arial"/>
              </a:rPr>
              <a:t>during</a:t>
            </a:r>
            <a:r>
              <a:rPr sz="1750" spc="-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7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45" dirty="0">
                <a:solidFill>
                  <a:srgbClr val="2C3148"/>
                </a:solidFill>
                <a:latin typeface="Arial"/>
                <a:cs typeface="Arial"/>
              </a:rPr>
              <a:t>manoeuvre.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0823" y="3877055"/>
            <a:ext cx="4196080" cy="680085"/>
            <a:chOff x="9640823" y="3877055"/>
            <a:chExt cx="4196080" cy="680085"/>
          </a:xfrm>
        </p:grpSpPr>
        <p:sp>
          <p:nvSpPr>
            <p:cNvPr id="17" name="object 17"/>
            <p:cNvSpPr/>
            <p:nvPr/>
          </p:nvSpPr>
          <p:spPr>
            <a:xfrm>
              <a:off x="9640824" y="3877055"/>
              <a:ext cx="4196080" cy="680085"/>
            </a:xfrm>
            <a:custGeom>
              <a:avLst/>
              <a:gdLst/>
              <a:ahLst/>
              <a:cxnLst/>
              <a:rect l="l" t="t" r="r" b="b"/>
              <a:pathLst>
                <a:path w="4196080" h="680085">
                  <a:moveTo>
                    <a:pt x="4195572" y="370332"/>
                  </a:moveTo>
                  <a:lnTo>
                    <a:pt x="4190771" y="346621"/>
                  </a:lnTo>
                  <a:lnTo>
                    <a:pt x="4177703" y="327240"/>
                  </a:lnTo>
                  <a:lnTo>
                    <a:pt x="4158323" y="314172"/>
                  </a:lnTo>
                  <a:lnTo>
                    <a:pt x="4134612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97024" y="0"/>
                  </a:lnTo>
                  <a:lnTo>
                    <a:pt x="2050897" y="3111"/>
                  </a:lnTo>
                  <a:lnTo>
                    <a:pt x="2006663" y="12141"/>
                  </a:lnTo>
                  <a:lnTo>
                    <a:pt x="1964728" y="26708"/>
                  </a:lnTo>
                  <a:lnTo>
                    <a:pt x="1925485" y="46405"/>
                  </a:lnTo>
                  <a:lnTo>
                    <a:pt x="1889340" y="70815"/>
                  </a:lnTo>
                  <a:lnTo>
                    <a:pt x="1856701" y="99542"/>
                  </a:lnTo>
                  <a:lnTo>
                    <a:pt x="1827974" y="132181"/>
                  </a:lnTo>
                  <a:lnTo>
                    <a:pt x="1803565" y="168325"/>
                  </a:lnTo>
                  <a:lnTo>
                    <a:pt x="1783867" y="207568"/>
                  </a:lnTo>
                  <a:lnTo>
                    <a:pt x="1769300" y="249504"/>
                  </a:lnTo>
                  <a:lnTo>
                    <a:pt x="1760270" y="293738"/>
                  </a:lnTo>
                  <a:lnTo>
                    <a:pt x="1759216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1769668" y="431292"/>
                  </a:lnTo>
                  <a:lnTo>
                    <a:pt x="1783867" y="472147"/>
                  </a:lnTo>
                  <a:lnTo>
                    <a:pt x="1803565" y="511390"/>
                  </a:lnTo>
                  <a:lnTo>
                    <a:pt x="1827974" y="547535"/>
                  </a:lnTo>
                  <a:lnTo>
                    <a:pt x="1856701" y="580174"/>
                  </a:lnTo>
                  <a:lnTo>
                    <a:pt x="1889340" y="608901"/>
                  </a:lnTo>
                  <a:lnTo>
                    <a:pt x="1925485" y="633310"/>
                  </a:lnTo>
                  <a:lnTo>
                    <a:pt x="1964728" y="653008"/>
                  </a:lnTo>
                  <a:lnTo>
                    <a:pt x="2006663" y="667575"/>
                  </a:lnTo>
                  <a:lnTo>
                    <a:pt x="2050897" y="676605"/>
                  </a:lnTo>
                  <a:lnTo>
                    <a:pt x="2097024" y="679704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4612" y="431292"/>
                  </a:lnTo>
                  <a:lnTo>
                    <a:pt x="4158323" y="426504"/>
                  </a:lnTo>
                  <a:lnTo>
                    <a:pt x="4177703" y="413435"/>
                  </a:lnTo>
                  <a:lnTo>
                    <a:pt x="4190771" y="394055"/>
                  </a:lnTo>
                  <a:lnTo>
                    <a:pt x="4195572" y="370332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2211" y="4047743"/>
              <a:ext cx="272796" cy="33985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885933" y="4758690"/>
            <a:ext cx="3427729" cy="2304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45" dirty="0">
                <a:solidFill>
                  <a:srgbClr val="2C3148"/>
                </a:solidFill>
                <a:latin typeface="Lucida Sans Unicode"/>
                <a:cs typeface="Lucida Sans Unicode"/>
              </a:rPr>
              <a:t>Core</a:t>
            </a:r>
            <a:r>
              <a:rPr sz="2200" spc="-15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Objective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6900"/>
              </a:lnSpc>
              <a:spcBef>
                <a:spcPts val="935"/>
              </a:spcBef>
            </a:pP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7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Arial"/>
                <a:cs typeface="Arial"/>
              </a:rPr>
              <a:t>primary</a:t>
            </a:r>
            <a:r>
              <a:rPr sz="17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Arial"/>
                <a:cs typeface="Arial"/>
              </a:rPr>
              <a:t>objective</a:t>
            </a:r>
            <a:r>
              <a:rPr sz="17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is</a:t>
            </a:r>
            <a:r>
              <a:rPr sz="175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sz="17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Arial"/>
                <a:cs typeface="Arial"/>
              </a:rPr>
              <a:t>build </a:t>
            </a:r>
            <a:r>
              <a:rPr sz="1750" dirty="0">
                <a:solidFill>
                  <a:srgbClr val="2C3148"/>
                </a:solidFill>
                <a:latin typeface="Arial"/>
                <a:cs typeface="Arial"/>
              </a:rPr>
              <a:t>an</a:t>
            </a:r>
            <a:r>
              <a:rPr sz="17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Arial"/>
                <a:cs typeface="Arial"/>
              </a:rPr>
              <a:t>adaptive</a:t>
            </a:r>
            <a:r>
              <a:rPr sz="1750" b="1" spc="-20" dirty="0">
                <a:solidFill>
                  <a:srgbClr val="2C3148"/>
                </a:solidFill>
                <a:latin typeface="Arial"/>
                <a:cs typeface="Arial"/>
              </a:rPr>
              <a:t> merging</a:t>
            </a:r>
            <a:r>
              <a:rPr sz="1750" b="1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Arial"/>
                <a:cs typeface="Arial"/>
              </a:rPr>
              <a:t>controller </a:t>
            </a:r>
            <a:r>
              <a:rPr sz="1750" spc="145" dirty="0">
                <a:solidFill>
                  <a:srgbClr val="2C3148"/>
                </a:solidFill>
                <a:latin typeface="Arial"/>
                <a:cs typeface="Arial"/>
              </a:rPr>
              <a:t>that</a:t>
            </a:r>
            <a:r>
              <a:rPr sz="17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Arial"/>
                <a:cs typeface="Arial"/>
              </a:rPr>
              <a:t>dynamically</a:t>
            </a:r>
            <a:r>
              <a:rPr sz="175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Arial"/>
                <a:cs typeface="Arial"/>
              </a:rPr>
              <a:t>accounts</a:t>
            </a:r>
            <a:r>
              <a:rPr sz="175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Arial"/>
                <a:cs typeface="Arial"/>
              </a:rPr>
              <a:t>for </a:t>
            </a:r>
            <a:r>
              <a:rPr sz="1750" spc="95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750" spc="-6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Arial"/>
                <a:cs typeface="Arial"/>
              </a:rPr>
              <a:t>performance metrics.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8220" y="1673752"/>
            <a:ext cx="7010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To test the paper's thesis, we are running a "tournament" at 4 junctions to see which control strategy wins.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7270" y="653542"/>
            <a:ext cx="101123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/>
              <a:t>Key</a:t>
            </a:r>
            <a:r>
              <a:rPr sz="6000" spc="-500" dirty="0"/>
              <a:t> </a:t>
            </a:r>
            <a:r>
              <a:rPr sz="6000" spc="-280" dirty="0"/>
              <a:t>Contribution</a:t>
            </a:r>
            <a:r>
              <a:rPr sz="6000" spc="-495" dirty="0"/>
              <a:t> </a:t>
            </a:r>
            <a:r>
              <a:rPr sz="6000" spc="-185" dirty="0"/>
              <a:t>of</a:t>
            </a:r>
            <a:r>
              <a:rPr sz="6000" spc="-495" dirty="0"/>
              <a:t> </a:t>
            </a:r>
            <a:r>
              <a:rPr sz="6000" spc="-225" dirty="0"/>
              <a:t>the</a:t>
            </a:r>
            <a:r>
              <a:rPr sz="6000" spc="-495" dirty="0"/>
              <a:t> </a:t>
            </a:r>
            <a:r>
              <a:rPr sz="6000" spc="-65" dirty="0"/>
              <a:t>Paper</a:t>
            </a:r>
            <a:endParaRPr sz="6000" dirty="0"/>
          </a:p>
        </p:txBody>
      </p:sp>
      <p:sp>
        <p:nvSpPr>
          <p:cNvPr id="7" name="object 7"/>
          <p:cNvSpPr txBox="1"/>
          <p:nvPr/>
        </p:nvSpPr>
        <p:spPr>
          <a:xfrm>
            <a:off x="-97212" y="2961894"/>
            <a:ext cx="498843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8814" marR="5080" indent="-226060" algn="l">
              <a:spcBef>
                <a:spcPts val="95"/>
              </a:spcBef>
            </a:pPr>
            <a:r>
              <a:rPr lang="en-US" sz="2400" dirty="0"/>
              <a:t>Agent 1: </a:t>
            </a:r>
            <a:r>
              <a:rPr lang="en-US" sz="2400" dirty="0" err="1"/>
              <a:t>E-AoI+DDPG</a:t>
            </a:r>
            <a:endParaRPr lang="en-US" sz="2400" dirty="0"/>
          </a:p>
        </p:txBody>
      </p:sp>
      <p:grpSp>
        <p:nvGrpSpPr>
          <p:cNvPr id="8" name="object 8"/>
          <p:cNvGrpSpPr/>
          <p:nvPr/>
        </p:nvGrpSpPr>
        <p:grpSpPr>
          <a:xfrm>
            <a:off x="5418451" y="2961894"/>
            <a:ext cx="1855470" cy="1855470"/>
            <a:chOff x="5418451" y="2961894"/>
            <a:chExt cx="1855470" cy="1855470"/>
          </a:xfrm>
        </p:grpSpPr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8451" y="2961894"/>
              <a:ext cx="1854852" cy="1855469"/>
            </a:xfrm>
            <a:prstGeom prst="rect">
              <a:avLst/>
            </a:prstGeom>
          </p:spPr>
        </p:pic>
        <p:pic>
          <p:nvPicPr>
            <p:cNvPr id="10" name="object 1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6124" y="3831336"/>
              <a:ext cx="310896" cy="38862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593071" y="2833243"/>
            <a:ext cx="4027170" cy="15023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400" dirty="0"/>
              <a:t>Agent 2: Vanilla DDPG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dirty="0"/>
              <a:t>This agent is "channel-blind." It uses the same DDPG brain but </a:t>
            </a:r>
            <a:r>
              <a:rPr lang="en-US" sz="1800" i="1" dirty="0"/>
              <a:t>cannot</a:t>
            </a:r>
            <a:r>
              <a:rPr lang="en-US" sz="1800" dirty="0"/>
              <a:t> see the E-</a:t>
            </a:r>
            <a:r>
              <a:rPr lang="en-US" sz="1800" dirty="0" err="1"/>
              <a:t>AoI</a:t>
            </a:r>
            <a:r>
              <a:rPr lang="en-US" sz="1800" dirty="0"/>
              <a:t>. It trusts all data, even if it's old, creating a "blind spot."</a:t>
            </a:r>
            <a:endParaRPr lang="en-US" sz="2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26152" y="2569464"/>
            <a:ext cx="4578350" cy="4579620"/>
            <a:chOff x="5026152" y="2569464"/>
            <a:chExt cx="4578350" cy="4579620"/>
          </a:xfrm>
        </p:grpSpPr>
        <p:pic>
          <p:nvPicPr>
            <p:cNvPr id="13" name="object 1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6152" y="2569464"/>
              <a:ext cx="4578096" cy="4579620"/>
            </a:xfrm>
            <a:prstGeom prst="rect">
              <a:avLst/>
            </a:prstGeom>
          </p:spPr>
        </p:pic>
        <p:pic>
          <p:nvPicPr>
            <p:cNvPr id="14" name="object 14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93380" y="3831336"/>
              <a:ext cx="310896" cy="3886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593071" y="5112258"/>
            <a:ext cx="4091940" cy="13792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400" dirty="0"/>
              <a:t>Agent 4: Baseline</a:t>
            </a:r>
            <a:endParaRPr lang="en-IN" sz="2400" spc="100" dirty="0">
              <a:solidFill>
                <a:srgbClr val="2C314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dirty="0"/>
              <a:t>This junction (J7_J8) is not controlled by AI. It uses a standard SUMO traffic flow (f_5_baseline_J4) to show how a non-learning, rule-based vehicle behaves.</a:t>
            </a:r>
            <a:endParaRPr sz="1700" dirty="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26152" y="2569464"/>
            <a:ext cx="4578350" cy="4579620"/>
            <a:chOff x="5026152" y="2569464"/>
            <a:chExt cx="4578350" cy="4579620"/>
          </a:xfrm>
        </p:grpSpPr>
        <p:pic>
          <p:nvPicPr>
            <p:cNvPr id="17" name="object 1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6152" y="2569464"/>
              <a:ext cx="4578096" cy="4579620"/>
            </a:xfrm>
            <a:prstGeom prst="rect">
              <a:avLst/>
            </a:prstGeom>
          </p:spPr>
        </p:pic>
        <p:pic>
          <p:nvPicPr>
            <p:cNvPr id="18" name="object 18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93380" y="5498592"/>
              <a:ext cx="310896" cy="38861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-241048" y="5367134"/>
            <a:ext cx="5570729" cy="2056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8814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Agent 3: DQN </a:t>
            </a:r>
          </a:p>
          <a:p>
            <a:pPr marL="1948814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This agent (at J1_J5) tests a different algorithm. It can only choose from 3 discrete actions (Accelerate, Hold, Decelerate) to see if a simpler model is more stable.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26152" y="2569464"/>
            <a:ext cx="4578350" cy="4579620"/>
            <a:chOff x="5026152" y="2569464"/>
            <a:chExt cx="4578350" cy="4579620"/>
          </a:xfrm>
        </p:grpSpPr>
        <p:pic>
          <p:nvPicPr>
            <p:cNvPr id="21" name="object 21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6152" y="2569464"/>
              <a:ext cx="4578096" cy="4579620"/>
            </a:xfrm>
            <a:prstGeom prst="rect">
              <a:avLst/>
            </a:prstGeom>
          </p:spPr>
        </p:pic>
        <p:pic>
          <p:nvPicPr>
            <p:cNvPr id="22" name="object 22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6124" y="5498592"/>
              <a:ext cx="310896" cy="38861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676400" y="7711438"/>
            <a:ext cx="122256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This experiment will prove whether the "channel-aware" agent  is truly safer and more efficient than its "unaware" rivals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5F0F81-8AF8-427F-97A3-FCD50CB7BFAF}"/>
              </a:ext>
            </a:extLst>
          </p:cNvPr>
          <p:cNvSpPr txBox="1"/>
          <p:nvPr/>
        </p:nvSpPr>
        <p:spPr>
          <a:xfrm>
            <a:off x="1554808" y="3432434"/>
            <a:ext cx="3667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This agent (at J16_J17) implements the paper's solution. It sees the E-</a:t>
            </a:r>
            <a:r>
              <a:rPr lang="en-US" dirty="0" err="1"/>
              <a:t>AoI</a:t>
            </a:r>
            <a:r>
              <a:rPr lang="en-US" dirty="0"/>
              <a:t> (communication quality) and is penalized for driving fast with stale data.</a:t>
            </a:r>
            <a:endParaRPr lang="en-US" dirty="0">
              <a:latin typeface="Arial"/>
              <a:cs typeface="Arial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78" y="1835852"/>
            <a:ext cx="12222967" cy="499375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5129" y="465200"/>
            <a:ext cx="23241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5" dirty="0">
                <a:solidFill>
                  <a:srgbClr val="272C45"/>
                </a:solidFill>
                <a:latin typeface="Lucida Sans Unicode"/>
                <a:cs typeface="Lucida Sans Unicode"/>
              </a:rPr>
              <a:t>System</a:t>
            </a:r>
            <a:r>
              <a:rPr sz="1700" spc="-15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700" spc="-70" dirty="0">
                <a:solidFill>
                  <a:srgbClr val="272C45"/>
                </a:solidFill>
                <a:latin typeface="Lucida Sans Unicode"/>
                <a:cs typeface="Lucida Sans Unicode"/>
              </a:rPr>
              <a:t>Implementation</a:t>
            </a:r>
            <a:endParaRPr sz="1700" dirty="0">
              <a:latin typeface="Lucida Sans Unicode"/>
              <a:cs typeface="Lucida Sans Unicod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5129" y="979372"/>
            <a:ext cx="6038850" cy="750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750" spc="-195" dirty="0"/>
              <a:t>Architecture</a:t>
            </a:r>
            <a:r>
              <a:rPr sz="4750" spc="-325" dirty="0"/>
              <a:t> </a:t>
            </a:r>
            <a:r>
              <a:rPr sz="4750" spc="-65" dirty="0"/>
              <a:t>Overview</a:t>
            </a:r>
            <a:endParaRPr sz="4750"/>
          </a:p>
        </p:txBody>
      </p:sp>
      <p:sp>
        <p:nvSpPr>
          <p:cNvPr id="5" name="object 5"/>
          <p:cNvSpPr txBox="1"/>
          <p:nvPr/>
        </p:nvSpPr>
        <p:spPr>
          <a:xfrm>
            <a:off x="1344549" y="3521219"/>
            <a:ext cx="14871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V2V</a:t>
            </a:r>
            <a:r>
              <a:rPr sz="20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Channel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4549" y="2269947"/>
            <a:ext cx="21583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sz="20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Simulation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4549" y="4858275"/>
            <a:ext cx="2436114" cy="15061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RL</a:t>
            </a:r>
            <a:r>
              <a:rPr sz="20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endParaRPr sz="2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lang="en-GB" sz="13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13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Integration</a:t>
            </a:r>
            <a:r>
              <a:rPr sz="20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20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E-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Aol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129" y="7158025"/>
            <a:ext cx="13234669" cy="568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5"/>
              </a:spcBef>
            </a:pP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3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system</a:t>
            </a:r>
            <a:r>
              <a:rPr sz="13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C3148"/>
                </a:solidFill>
                <a:latin typeface="Arial"/>
                <a:cs typeface="Arial"/>
              </a:rPr>
              <a:t>is</a:t>
            </a:r>
            <a:r>
              <a:rPr sz="13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100" dirty="0">
                <a:solidFill>
                  <a:srgbClr val="2C3148"/>
                </a:solidFill>
                <a:latin typeface="Arial"/>
                <a:cs typeface="Arial"/>
              </a:rPr>
              <a:t>built</a:t>
            </a:r>
            <a:r>
              <a:rPr sz="1350" spc="-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around</a:t>
            </a:r>
            <a:r>
              <a:rPr sz="135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95" dirty="0">
                <a:solidFill>
                  <a:srgbClr val="2C3148"/>
                </a:solidFill>
                <a:latin typeface="Arial"/>
                <a:cs typeface="Arial"/>
              </a:rPr>
              <a:t>four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2C3148"/>
                </a:solidFill>
                <a:latin typeface="Arial"/>
                <a:cs typeface="Arial"/>
              </a:rPr>
              <a:t>primary</a:t>
            </a:r>
            <a:r>
              <a:rPr sz="1350" spc="-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components,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2C3148"/>
                </a:solidFill>
                <a:latin typeface="Arial"/>
                <a:cs typeface="Arial"/>
              </a:rPr>
              <a:t>allowing</a:t>
            </a:r>
            <a:r>
              <a:rPr sz="1350" spc="-6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10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9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35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45" dirty="0">
                <a:solidFill>
                  <a:srgbClr val="2C3148"/>
                </a:solidFill>
                <a:latin typeface="Arial"/>
                <a:cs typeface="Arial"/>
              </a:rPr>
              <a:t>comprehensive</a:t>
            </a:r>
            <a:r>
              <a:rPr sz="1350" spc="-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C3148"/>
                </a:solidFill>
                <a:latin typeface="Arial"/>
                <a:cs typeface="Arial"/>
              </a:rPr>
              <a:t>testing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114" dirty="0">
                <a:solidFill>
                  <a:srgbClr val="2C3148"/>
                </a:solidFill>
                <a:latin typeface="Arial"/>
                <a:cs typeface="Arial"/>
              </a:rPr>
              <a:t>of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adaptive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control</a:t>
            </a:r>
            <a:r>
              <a:rPr sz="1350" spc="-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strategies</a:t>
            </a:r>
            <a:r>
              <a:rPr sz="1350" spc="-6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under</a:t>
            </a:r>
            <a:r>
              <a:rPr sz="1350" spc="-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2C3148"/>
                </a:solidFill>
                <a:latin typeface="Arial"/>
                <a:cs typeface="Arial"/>
              </a:rPr>
              <a:t>synthetic,</a:t>
            </a:r>
            <a:r>
              <a:rPr sz="135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85" dirty="0">
                <a:solidFill>
                  <a:srgbClr val="2C3148"/>
                </a:solidFill>
                <a:latin typeface="Arial"/>
                <a:cs typeface="Arial"/>
              </a:rPr>
              <a:t>yet</a:t>
            </a:r>
            <a:r>
              <a:rPr sz="135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realistic,</a:t>
            </a:r>
            <a:r>
              <a:rPr sz="135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2C3148"/>
                </a:solidFill>
                <a:latin typeface="Arial"/>
                <a:cs typeface="Arial"/>
              </a:rPr>
              <a:t>impaired </a:t>
            </a:r>
            <a:r>
              <a:rPr sz="1350" spc="75" dirty="0">
                <a:solidFill>
                  <a:srgbClr val="2C3148"/>
                </a:solidFill>
                <a:latin typeface="Arial"/>
                <a:cs typeface="Arial"/>
              </a:rPr>
              <a:t>communication</a:t>
            </a:r>
            <a:r>
              <a:rPr sz="1350" spc="-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2C3148"/>
                </a:solidFill>
                <a:latin typeface="Arial"/>
                <a:cs typeface="Arial"/>
              </a:rPr>
              <a:t>conditions.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hlinkClick r:id="rId3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Chapter</a:t>
            </a:r>
            <a:r>
              <a:rPr spc="-120" dirty="0"/>
              <a:t> </a:t>
            </a:r>
            <a:r>
              <a:rPr spc="-160" dirty="0"/>
              <a:t>III:</a:t>
            </a:r>
            <a:r>
              <a:rPr spc="-95" dirty="0"/>
              <a:t> </a:t>
            </a:r>
            <a:r>
              <a:rPr spc="-125" dirty="0"/>
              <a:t>Our</a:t>
            </a:r>
            <a:r>
              <a:rPr spc="-120" dirty="0"/>
              <a:t> </a:t>
            </a:r>
            <a:r>
              <a:rPr spc="-75" dirty="0"/>
              <a:t>Execution</a:t>
            </a:r>
            <a:r>
              <a:rPr spc="-95" dirty="0"/>
              <a:t> </a:t>
            </a:r>
            <a:r>
              <a:rPr spc="-20" dirty="0"/>
              <a:t>Plan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3209" y="759078"/>
            <a:ext cx="8896985" cy="108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272C45"/>
                </a:solidFill>
                <a:latin typeface="Lucida Sans Unicode"/>
                <a:cs typeface="Lucida Sans Unicode"/>
              </a:rPr>
              <a:t>Phase</a:t>
            </a:r>
            <a:r>
              <a:rPr sz="4000" spc="-32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4000" spc="-540" dirty="0">
                <a:solidFill>
                  <a:srgbClr val="272C45"/>
                </a:solidFill>
                <a:latin typeface="Lucida Sans Unicode"/>
                <a:cs typeface="Lucida Sans Unicode"/>
              </a:rPr>
              <a:t>2:</a:t>
            </a:r>
            <a:r>
              <a:rPr sz="4000" spc="-31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4000" spc="-165" dirty="0">
                <a:solidFill>
                  <a:srgbClr val="272C45"/>
                </a:solidFill>
                <a:latin typeface="Lucida Sans Unicode"/>
                <a:cs typeface="Lucida Sans Unicode"/>
              </a:rPr>
              <a:t>Workflow</a:t>
            </a:r>
            <a:r>
              <a:rPr sz="4000" spc="-28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4000" spc="-10" dirty="0">
                <a:solidFill>
                  <a:srgbClr val="272C45"/>
                </a:solidFill>
                <a:latin typeface="Lucida Sans Unicode"/>
                <a:cs typeface="Lucida Sans Unicode"/>
              </a:rPr>
              <a:t>Roadmap</a:t>
            </a:r>
            <a:endParaRPr sz="4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Our</a:t>
            </a:r>
            <a:r>
              <a:rPr sz="110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2C3148"/>
                </a:solidFill>
                <a:latin typeface="Arial"/>
                <a:cs typeface="Arial"/>
              </a:rPr>
              <a:t>implementation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plan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is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divided</a:t>
            </a: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85" dirty="0">
                <a:solidFill>
                  <a:srgbClr val="2C3148"/>
                </a:solidFill>
                <a:latin typeface="Arial"/>
                <a:cs typeface="Arial"/>
              </a:rPr>
              <a:t>into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six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logical</a:t>
            </a:r>
            <a:r>
              <a:rPr sz="110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steps,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moving</a:t>
            </a:r>
            <a:r>
              <a:rPr sz="110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90" dirty="0">
                <a:solidFill>
                  <a:srgbClr val="2C3148"/>
                </a:solidFill>
                <a:latin typeface="Arial"/>
                <a:cs typeface="Arial"/>
              </a:rPr>
              <a:t>from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theoretical</a:t>
            </a: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understanding</a:t>
            </a: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10" dirty="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full-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scale</a:t>
            </a:r>
            <a:r>
              <a:rPr sz="110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2C3148"/>
                </a:solidFill>
                <a:latin typeface="Arial"/>
                <a:cs typeface="Arial"/>
              </a:rPr>
              <a:t>simulation</a:t>
            </a:r>
            <a:r>
              <a:rPr sz="110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3148"/>
                </a:solidFill>
                <a:latin typeface="Arial"/>
                <a:cs typeface="Arial"/>
              </a:rPr>
              <a:t>analysis.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2251" y="2029967"/>
            <a:ext cx="574675" cy="856615"/>
            <a:chOff x="492251" y="2029967"/>
            <a:chExt cx="574675" cy="856615"/>
          </a:xfrm>
        </p:grpSpPr>
        <p:sp>
          <p:nvSpPr>
            <p:cNvPr id="8" name="object 8"/>
            <p:cNvSpPr/>
            <p:nvPr/>
          </p:nvSpPr>
          <p:spPr>
            <a:xfrm>
              <a:off x="496061" y="2033777"/>
              <a:ext cx="567055" cy="848994"/>
            </a:xfrm>
            <a:custGeom>
              <a:avLst/>
              <a:gdLst/>
              <a:ahLst/>
              <a:cxnLst/>
              <a:rect l="l" t="t" r="r" b="b"/>
              <a:pathLst>
                <a:path w="567055" h="848994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0" y="565404"/>
                  </a:lnTo>
                  <a:lnTo>
                    <a:pt x="3710" y="611392"/>
                  </a:lnTo>
                  <a:lnTo>
                    <a:pt x="14451" y="655015"/>
                  </a:lnTo>
                  <a:lnTo>
                    <a:pt x="31639" y="695688"/>
                  </a:lnTo>
                  <a:lnTo>
                    <a:pt x="54692" y="732830"/>
                  </a:lnTo>
                  <a:lnTo>
                    <a:pt x="83024" y="765857"/>
                  </a:lnTo>
                  <a:lnTo>
                    <a:pt x="116053" y="794186"/>
                  </a:lnTo>
                  <a:lnTo>
                    <a:pt x="153195" y="817235"/>
                  </a:lnTo>
                  <a:lnTo>
                    <a:pt x="193867" y="834420"/>
                  </a:lnTo>
                  <a:lnTo>
                    <a:pt x="237484" y="845158"/>
                  </a:lnTo>
                  <a:lnTo>
                    <a:pt x="283464" y="848868"/>
                  </a:lnTo>
                  <a:lnTo>
                    <a:pt x="329443" y="845158"/>
                  </a:lnTo>
                  <a:lnTo>
                    <a:pt x="373060" y="834420"/>
                  </a:lnTo>
                  <a:lnTo>
                    <a:pt x="413732" y="817235"/>
                  </a:lnTo>
                  <a:lnTo>
                    <a:pt x="450874" y="794186"/>
                  </a:lnTo>
                  <a:lnTo>
                    <a:pt x="483903" y="765857"/>
                  </a:lnTo>
                  <a:lnTo>
                    <a:pt x="512235" y="732830"/>
                  </a:lnTo>
                  <a:lnTo>
                    <a:pt x="535288" y="695688"/>
                  </a:lnTo>
                  <a:lnTo>
                    <a:pt x="552476" y="655015"/>
                  </a:lnTo>
                  <a:lnTo>
                    <a:pt x="563217" y="611392"/>
                  </a:lnTo>
                  <a:lnTo>
                    <a:pt x="566928" y="565404"/>
                  </a:lnTo>
                  <a:lnTo>
                    <a:pt x="566928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061" y="2033777"/>
              <a:ext cx="567055" cy="848994"/>
            </a:xfrm>
            <a:custGeom>
              <a:avLst/>
              <a:gdLst/>
              <a:ahLst/>
              <a:cxnLst/>
              <a:rect l="l" t="t" r="r" b="b"/>
              <a:pathLst>
                <a:path w="567055" h="848994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565404"/>
                  </a:lnTo>
                  <a:lnTo>
                    <a:pt x="563217" y="611392"/>
                  </a:lnTo>
                  <a:lnTo>
                    <a:pt x="552476" y="655015"/>
                  </a:lnTo>
                  <a:lnTo>
                    <a:pt x="535288" y="695688"/>
                  </a:lnTo>
                  <a:lnTo>
                    <a:pt x="512235" y="732830"/>
                  </a:lnTo>
                  <a:lnTo>
                    <a:pt x="483903" y="765857"/>
                  </a:lnTo>
                  <a:lnTo>
                    <a:pt x="450874" y="794186"/>
                  </a:lnTo>
                  <a:lnTo>
                    <a:pt x="413732" y="817235"/>
                  </a:lnTo>
                  <a:lnTo>
                    <a:pt x="373060" y="834420"/>
                  </a:lnTo>
                  <a:lnTo>
                    <a:pt x="329443" y="845158"/>
                  </a:lnTo>
                  <a:lnTo>
                    <a:pt x="283464" y="848868"/>
                  </a:lnTo>
                  <a:lnTo>
                    <a:pt x="237484" y="845158"/>
                  </a:lnTo>
                  <a:lnTo>
                    <a:pt x="193867" y="834420"/>
                  </a:lnTo>
                  <a:lnTo>
                    <a:pt x="153195" y="817235"/>
                  </a:lnTo>
                  <a:lnTo>
                    <a:pt x="116053" y="794186"/>
                  </a:lnTo>
                  <a:lnTo>
                    <a:pt x="83024" y="765857"/>
                  </a:lnTo>
                  <a:lnTo>
                    <a:pt x="54692" y="732830"/>
                  </a:lnTo>
                  <a:lnTo>
                    <a:pt x="31639" y="695688"/>
                  </a:lnTo>
                  <a:lnTo>
                    <a:pt x="14451" y="655015"/>
                  </a:lnTo>
                  <a:lnTo>
                    <a:pt x="3710" y="611392"/>
                  </a:lnTo>
                  <a:lnTo>
                    <a:pt x="0" y="565404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0298" y="2263902"/>
            <a:ext cx="895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90" dirty="0">
                <a:solidFill>
                  <a:srgbClr val="2C3148"/>
                </a:solidFill>
                <a:latin typeface="Lucida Sans Unicode"/>
                <a:cs typeface="Lucida Sans Unicode"/>
              </a:rPr>
              <a:t>1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1260" y="2151126"/>
            <a:ext cx="302895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40" dirty="0">
                <a:solidFill>
                  <a:srgbClr val="2C3148"/>
                </a:solidFill>
                <a:latin typeface="Lucida Sans Unicode"/>
                <a:cs typeface="Lucida Sans Unicode"/>
              </a:rPr>
              <a:t>Paper</a:t>
            </a:r>
            <a:r>
              <a:rPr sz="135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2C3148"/>
                </a:solidFill>
                <a:latin typeface="Lucida Sans Unicode"/>
                <a:cs typeface="Lucida Sans Unicode"/>
              </a:rPr>
              <a:t>Study</a:t>
            </a:r>
            <a:r>
              <a:rPr sz="135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2C3148"/>
                </a:solidFill>
                <a:latin typeface="Lucida Sans Unicode"/>
                <a:cs typeface="Lucida Sans Unicode"/>
              </a:rPr>
              <a:t>&amp;</a:t>
            </a:r>
            <a:r>
              <a:rPr sz="135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Metric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10" dirty="0">
                <a:solidFill>
                  <a:srgbClr val="2C3148"/>
                </a:solidFill>
                <a:latin typeface="Arial"/>
                <a:cs typeface="Arial"/>
              </a:rPr>
              <a:t>Deep-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dive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85" dirty="0">
                <a:solidFill>
                  <a:srgbClr val="2C3148"/>
                </a:solidFill>
                <a:latin typeface="Arial"/>
                <a:cs typeface="Arial"/>
              </a:rPr>
              <a:t>into</a:t>
            </a: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2C3148"/>
                </a:solidFill>
                <a:latin typeface="Arial"/>
                <a:cs typeface="Arial"/>
              </a:rPr>
              <a:t>E-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AoI</a:t>
            </a:r>
            <a:r>
              <a:rPr sz="110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C3148"/>
                </a:solidFill>
                <a:latin typeface="Arial"/>
                <a:cs typeface="Arial"/>
              </a:rPr>
              <a:t>DDPG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2C3148"/>
                </a:solidFill>
                <a:latin typeface="Arial"/>
                <a:cs typeface="Arial"/>
              </a:rPr>
              <a:t>methodology.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2251" y="3020567"/>
            <a:ext cx="574675" cy="858519"/>
            <a:chOff x="492251" y="3020567"/>
            <a:chExt cx="574675" cy="858519"/>
          </a:xfrm>
        </p:grpSpPr>
        <p:sp>
          <p:nvSpPr>
            <p:cNvPr id="13" name="object 13"/>
            <p:cNvSpPr/>
            <p:nvPr/>
          </p:nvSpPr>
          <p:spPr>
            <a:xfrm>
              <a:off x="496061" y="3024377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0" y="566927"/>
                  </a:lnTo>
                  <a:lnTo>
                    <a:pt x="3710" y="612916"/>
                  </a:lnTo>
                  <a:lnTo>
                    <a:pt x="14451" y="656539"/>
                  </a:lnTo>
                  <a:lnTo>
                    <a:pt x="31639" y="697212"/>
                  </a:lnTo>
                  <a:lnTo>
                    <a:pt x="54692" y="734354"/>
                  </a:lnTo>
                  <a:lnTo>
                    <a:pt x="83024" y="767381"/>
                  </a:lnTo>
                  <a:lnTo>
                    <a:pt x="116053" y="795710"/>
                  </a:lnTo>
                  <a:lnTo>
                    <a:pt x="153195" y="818759"/>
                  </a:lnTo>
                  <a:lnTo>
                    <a:pt x="193867" y="835944"/>
                  </a:lnTo>
                  <a:lnTo>
                    <a:pt x="237484" y="846682"/>
                  </a:lnTo>
                  <a:lnTo>
                    <a:pt x="283464" y="850392"/>
                  </a:lnTo>
                  <a:lnTo>
                    <a:pt x="329443" y="846682"/>
                  </a:lnTo>
                  <a:lnTo>
                    <a:pt x="373060" y="835944"/>
                  </a:lnTo>
                  <a:lnTo>
                    <a:pt x="413732" y="818759"/>
                  </a:lnTo>
                  <a:lnTo>
                    <a:pt x="450874" y="795710"/>
                  </a:lnTo>
                  <a:lnTo>
                    <a:pt x="483903" y="767381"/>
                  </a:lnTo>
                  <a:lnTo>
                    <a:pt x="512235" y="734354"/>
                  </a:lnTo>
                  <a:lnTo>
                    <a:pt x="535288" y="697212"/>
                  </a:lnTo>
                  <a:lnTo>
                    <a:pt x="552476" y="656539"/>
                  </a:lnTo>
                  <a:lnTo>
                    <a:pt x="563217" y="612916"/>
                  </a:lnTo>
                  <a:lnTo>
                    <a:pt x="566928" y="566927"/>
                  </a:lnTo>
                  <a:lnTo>
                    <a:pt x="566928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6061" y="3024377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566927"/>
                  </a:lnTo>
                  <a:lnTo>
                    <a:pt x="563217" y="612916"/>
                  </a:lnTo>
                  <a:lnTo>
                    <a:pt x="552476" y="656539"/>
                  </a:lnTo>
                  <a:lnTo>
                    <a:pt x="535288" y="697212"/>
                  </a:lnTo>
                  <a:lnTo>
                    <a:pt x="512235" y="734354"/>
                  </a:lnTo>
                  <a:lnTo>
                    <a:pt x="483903" y="767381"/>
                  </a:lnTo>
                  <a:lnTo>
                    <a:pt x="450874" y="795710"/>
                  </a:lnTo>
                  <a:lnTo>
                    <a:pt x="413732" y="818759"/>
                  </a:lnTo>
                  <a:lnTo>
                    <a:pt x="373060" y="835944"/>
                  </a:lnTo>
                  <a:lnTo>
                    <a:pt x="329443" y="846682"/>
                  </a:lnTo>
                  <a:lnTo>
                    <a:pt x="283464" y="850392"/>
                  </a:lnTo>
                  <a:lnTo>
                    <a:pt x="237484" y="846682"/>
                  </a:lnTo>
                  <a:lnTo>
                    <a:pt x="193867" y="835944"/>
                  </a:lnTo>
                  <a:lnTo>
                    <a:pt x="153195" y="818759"/>
                  </a:lnTo>
                  <a:lnTo>
                    <a:pt x="116053" y="795710"/>
                  </a:lnTo>
                  <a:lnTo>
                    <a:pt x="83024" y="767381"/>
                  </a:lnTo>
                  <a:lnTo>
                    <a:pt x="54692" y="734354"/>
                  </a:lnTo>
                  <a:lnTo>
                    <a:pt x="31639" y="697212"/>
                  </a:lnTo>
                  <a:lnTo>
                    <a:pt x="14451" y="656539"/>
                  </a:lnTo>
                  <a:lnTo>
                    <a:pt x="3710" y="612916"/>
                  </a:lnTo>
                  <a:lnTo>
                    <a:pt x="0" y="566927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0298" y="3255391"/>
            <a:ext cx="1320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55" dirty="0">
                <a:solidFill>
                  <a:srgbClr val="2C3148"/>
                </a:solidFill>
                <a:latin typeface="Lucida Sans Unicode"/>
                <a:cs typeface="Lucida Sans Unicode"/>
              </a:rPr>
              <a:t>2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1260" y="3142869"/>
            <a:ext cx="4014470" cy="411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400" dirty="0"/>
              <a:t>SUMO Network Built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dirty="0"/>
              <a:t>Constructed the 4-junction Test2.net.xml environment.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2251" y="4012691"/>
            <a:ext cx="574675" cy="858519"/>
            <a:chOff x="492251" y="4012691"/>
            <a:chExt cx="574675" cy="858519"/>
          </a:xfrm>
        </p:grpSpPr>
        <p:sp>
          <p:nvSpPr>
            <p:cNvPr id="18" name="object 18"/>
            <p:cNvSpPr/>
            <p:nvPr/>
          </p:nvSpPr>
          <p:spPr>
            <a:xfrm>
              <a:off x="496061" y="4016501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0" y="566927"/>
                  </a:lnTo>
                  <a:lnTo>
                    <a:pt x="3710" y="612916"/>
                  </a:lnTo>
                  <a:lnTo>
                    <a:pt x="14451" y="656539"/>
                  </a:lnTo>
                  <a:lnTo>
                    <a:pt x="31639" y="697212"/>
                  </a:lnTo>
                  <a:lnTo>
                    <a:pt x="54692" y="734354"/>
                  </a:lnTo>
                  <a:lnTo>
                    <a:pt x="83024" y="767381"/>
                  </a:lnTo>
                  <a:lnTo>
                    <a:pt x="116053" y="795710"/>
                  </a:lnTo>
                  <a:lnTo>
                    <a:pt x="153195" y="818759"/>
                  </a:lnTo>
                  <a:lnTo>
                    <a:pt x="193867" y="835944"/>
                  </a:lnTo>
                  <a:lnTo>
                    <a:pt x="237484" y="846682"/>
                  </a:lnTo>
                  <a:lnTo>
                    <a:pt x="283464" y="850392"/>
                  </a:lnTo>
                  <a:lnTo>
                    <a:pt x="329443" y="846682"/>
                  </a:lnTo>
                  <a:lnTo>
                    <a:pt x="373060" y="835944"/>
                  </a:lnTo>
                  <a:lnTo>
                    <a:pt x="413732" y="818759"/>
                  </a:lnTo>
                  <a:lnTo>
                    <a:pt x="450874" y="795710"/>
                  </a:lnTo>
                  <a:lnTo>
                    <a:pt x="483903" y="767381"/>
                  </a:lnTo>
                  <a:lnTo>
                    <a:pt x="512235" y="734354"/>
                  </a:lnTo>
                  <a:lnTo>
                    <a:pt x="535288" y="697212"/>
                  </a:lnTo>
                  <a:lnTo>
                    <a:pt x="552476" y="656539"/>
                  </a:lnTo>
                  <a:lnTo>
                    <a:pt x="563217" y="612916"/>
                  </a:lnTo>
                  <a:lnTo>
                    <a:pt x="566928" y="566927"/>
                  </a:lnTo>
                  <a:lnTo>
                    <a:pt x="566928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061" y="4016501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566927"/>
                  </a:lnTo>
                  <a:lnTo>
                    <a:pt x="563217" y="612916"/>
                  </a:lnTo>
                  <a:lnTo>
                    <a:pt x="552476" y="656539"/>
                  </a:lnTo>
                  <a:lnTo>
                    <a:pt x="535288" y="697212"/>
                  </a:lnTo>
                  <a:lnTo>
                    <a:pt x="512235" y="734354"/>
                  </a:lnTo>
                  <a:lnTo>
                    <a:pt x="483903" y="767381"/>
                  </a:lnTo>
                  <a:lnTo>
                    <a:pt x="450874" y="795710"/>
                  </a:lnTo>
                  <a:lnTo>
                    <a:pt x="413732" y="818759"/>
                  </a:lnTo>
                  <a:lnTo>
                    <a:pt x="373060" y="835944"/>
                  </a:lnTo>
                  <a:lnTo>
                    <a:pt x="329443" y="846682"/>
                  </a:lnTo>
                  <a:lnTo>
                    <a:pt x="283464" y="850392"/>
                  </a:lnTo>
                  <a:lnTo>
                    <a:pt x="237484" y="846682"/>
                  </a:lnTo>
                  <a:lnTo>
                    <a:pt x="193867" y="835944"/>
                  </a:lnTo>
                  <a:lnTo>
                    <a:pt x="153195" y="818759"/>
                  </a:lnTo>
                  <a:lnTo>
                    <a:pt x="116053" y="795710"/>
                  </a:lnTo>
                  <a:lnTo>
                    <a:pt x="83024" y="767381"/>
                  </a:lnTo>
                  <a:lnTo>
                    <a:pt x="54692" y="734354"/>
                  </a:lnTo>
                  <a:lnTo>
                    <a:pt x="31639" y="697212"/>
                  </a:lnTo>
                  <a:lnTo>
                    <a:pt x="14451" y="656539"/>
                  </a:lnTo>
                  <a:lnTo>
                    <a:pt x="3710" y="612916"/>
                  </a:lnTo>
                  <a:lnTo>
                    <a:pt x="0" y="566927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0298" y="4247134"/>
            <a:ext cx="1339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0" dirty="0">
                <a:solidFill>
                  <a:srgbClr val="2C3148"/>
                </a:solidFill>
                <a:latin typeface="Lucida Sans Unicode"/>
                <a:cs typeface="Lucida Sans Unicode"/>
              </a:rPr>
              <a:t>3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91260" y="4134739"/>
            <a:ext cx="5590540" cy="411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400" dirty="0"/>
              <a:t>V2V Channel Model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Implementing</a:t>
            </a:r>
            <a:r>
              <a:rPr sz="1100" spc="1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lang="en-US" sz="1100" spc="110" dirty="0">
                <a:solidFill>
                  <a:srgbClr val="2C3148"/>
                </a:solidFill>
                <a:latin typeface="Arial"/>
                <a:cs typeface="Arial"/>
              </a:rPr>
              <a:t>V2VChannel class with </a:t>
            </a:r>
            <a:r>
              <a:rPr lang="en-US" sz="1100" dirty="0">
                <a:solidFill>
                  <a:srgbClr val="2C3148"/>
                </a:solidFill>
                <a:latin typeface="Arial"/>
                <a:cs typeface="Arial"/>
              </a:rPr>
              <a:t>30%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packet</a:t>
            </a:r>
            <a:r>
              <a:rPr sz="1100" spc="7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loss,</a:t>
            </a:r>
            <a:r>
              <a:rPr sz="1100" spc="7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100" spc="10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2C3148"/>
                </a:solidFill>
                <a:latin typeface="Arial"/>
                <a:cs typeface="Arial"/>
              </a:rPr>
              <a:t>E-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AoI</a:t>
            </a:r>
            <a:r>
              <a:rPr sz="1100" spc="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3148"/>
                </a:solidFill>
                <a:latin typeface="Arial"/>
                <a:cs typeface="Arial"/>
              </a:rPr>
              <a:t>calculation.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2251" y="5004815"/>
            <a:ext cx="574675" cy="856615"/>
            <a:chOff x="492251" y="5004815"/>
            <a:chExt cx="574675" cy="856615"/>
          </a:xfrm>
        </p:grpSpPr>
        <p:sp>
          <p:nvSpPr>
            <p:cNvPr id="23" name="object 23"/>
            <p:cNvSpPr/>
            <p:nvPr/>
          </p:nvSpPr>
          <p:spPr>
            <a:xfrm>
              <a:off x="496061" y="5008625"/>
              <a:ext cx="567055" cy="848994"/>
            </a:xfrm>
            <a:custGeom>
              <a:avLst/>
              <a:gdLst/>
              <a:ahLst/>
              <a:cxnLst/>
              <a:rect l="l" t="t" r="r" b="b"/>
              <a:pathLst>
                <a:path w="567055" h="848995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0" y="565404"/>
                  </a:lnTo>
                  <a:lnTo>
                    <a:pt x="3710" y="611392"/>
                  </a:lnTo>
                  <a:lnTo>
                    <a:pt x="14451" y="655015"/>
                  </a:lnTo>
                  <a:lnTo>
                    <a:pt x="31639" y="695688"/>
                  </a:lnTo>
                  <a:lnTo>
                    <a:pt x="54692" y="732830"/>
                  </a:lnTo>
                  <a:lnTo>
                    <a:pt x="83024" y="765857"/>
                  </a:lnTo>
                  <a:lnTo>
                    <a:pt x="116053" y="794186"/>
                  </a:lnTo>
                  <a:lnTo>
                    <a:pt x="153195" y="817235"/>
                  </a:lnTo>
                  <a:lnTo>
                    <a:pt x="193867" y="834420"/>
                  </a:lnTo>
                  <a:lnTo>
                    <a:pt x="237484" y="845158"/>
                  </a:lnTo>
                  <a:lnTo>
                    <a:pt x="283464" y="848868"/>
                  </a:lnTo>
                  <a:lnTo>
                    <a:pt x="329443" y="845158"/>
                  </a:lnTo>
                  <a:lnTo>
                    <a:pt x="373060" y="834420"/>
                  </a:lnTo>
                  <a:lnTo>
                    <a:pt x="413732" y="817235"/>
                  </a:lnTo>
                  <a:lnTo>
                    <a:pt x="450874" y="794186"/>
                  </a:lnTo>
                  <a:lnTo>
                    <a:pt x="483903" y="765857"/>
                  </a:lnTo>
                  <a:lnTo>
                    <a:pt x="512235" y="732830"/>
                  </a:lnTo>
                  <a:lnTo>
                    <a:pt x="535288" y="695688"/>
                  </a:lnTo>
                  <a:lnTo>
                    <a:pt x="552476" y="655015"/>
                  </a:lnTo>
                  <a:lnTo>
                    <a:pt x="563217" y="611392"/>
                  </a:lnTo>
                  <a:lnTo>
                    <a:pt x="566928" y="565404"/>
                  </a:lnTo>
                  <a:lnTo>
                    <a:pt x="566928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6061" y="5008625"/>
              <a:ext cx="567055" cy="848994"/>
            </a:xfrm>
            <a:custGeom>
              <a:avLst/>
              <a:gdLst/>
              <a:ahLst/>
              <a:cxnLst/>
              <a:rect l="l" t="t" r="r" b="b"/>
              <a:pathLst>
                <a:path w="567055" h="848995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565404"/>
                  </a:lnTo>
                  <a:lnTo>
                    <a:pt x="563217" y="611392"/>
                  </a:lnTo>
                  <a:lnTo>
                    <a:pt x="552476" y="655015"/>
                  </a:lnTo>
                  <a:lnTo>
                    <a:pt x="535288" y="695688"/>
                  </a:lnTo>
                  <a:lnTo>
                    <a:pt x="512235" y="732830"/>
                  </a:lnTo>
                  <a:lnTo>
                    <a:pt x="483903" y="765857"/>
                  </a:lnTo>
                  <a:lnTo>
                    <a:pt x="450874" y="794186"/>
                  </a:lnTo>
                  <a:lnTo>
                    <a:pt x="413732" y="817235"/>
                  </a:lnTo>
                  <a:lnTo>
                    <a:pt x="373060" y="834420"/>
                  </a:lnTo>
                  <a:lnTo>
                    <a:pt x="329443" y="845158"/>
                  </a:lnTo>
                  <a:lnTo>
                    <a:pt x="283464" y="848868"/>
                  </a:lnTo>
                  <a:lnTo>
                    <a:pt x="237484" y="845158"/>
                  </a:lnTo>
                  <a:lnTo>
                    <a:pt x="193867" y="834420"/>
                  </a:lnTo>
                  <a:lnTo>
                    <a:pt x="153195" y="817235"/>
                  </a:lnTo>
                  <a:lnTo>
                    <a:pt x="116053" y="794186"/>
                  </a:lnTo>
                  <a:lnTo>
                    <a:pt x="83024" y="765857"/>
                  </a:lnTo>
                  <a:lnTo>
                    <a:pt x="54692" y="732830"/>
                  </a:lnTo>
                  <a:lnTo>
                    <a:pt x="31639" y="695688"/>
                  </a:lnTo>
                  <a:lnTo>
                    <a:pt x="14451" y="655015"/>
                  </a:lnTo>
                  <a:lnTo>
                    <a:pt x="3710" y="611392"/>
                  </a:lnTo>
                  <a:lnTo>
                    <a:pt x="0" y="565404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298" y="5239003"/>
            <a:ext cx="1397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5" dirty="0">
                <a:solidFill>
                  <a:srgbClr val="2C3148"/>
                </a:solidFill>
                <a:latin typeface="Lucida Sans Unicode"/>
                <a:cs typeface="Lucida Sans Unicode"/>
              </a:rPr>
              <a:t>4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1260" y="5172563"/>
            <a:ext cx="6885940" cy="411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400" dirty="0"/>
              <a:t>Multi-Agent Integration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100" dirty="0"/>
              <a:t>Linked the environment to the 3 agent brains (DDPG-</a:t>
            </a:r>
            <a:r>
              <a:rPr lang="en-IN" sz="1100" dirty="0" err="1"/>
              <a:t>EaOI</a:t>
            </a:r>
            <a:r>
              <a:rPr lang="en-IN" sz="1100" dirty="0"/>
              <a:t>, DDPG-Vanilla, DQN) via main_new_network.py.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2251" y="5995415"/>
            <a:ext cx="574675" cy="858519"/>
            <a:chOff x="492251" y="5995415"/>
            <a:chExt cx="574675" cy="858519"/>
          </a:xfrm>
        </p:grpSpPr>
        <p:sp>
          <p:nvSpPr>
            <p:cNvPr id="28" name="object 28"/>
            <p:cNvSpPr/>
            <p:nvPr/>
          </p:nvSpPr>
          <p:spPr>
            <a:xfrm>
              <a:off x="496061" y="5999225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0" y="566928"/>
                  </a:lnTo>
                  <a:lnTo>
                    <a:pt x="3710" y="612916"/>
                  </a:lnTo>
                  <a:lnTo>
                    <a:pt x="14451" y="656539"/>
                  </a:lnTo>
                  <a:lnTo>
                    <a:pt x="31639" y="697212"/>
                  </a:lnTo>
                  <a:lnTo>
                    <a:pt x="54692" y="734354"/>
                  </a:lnTo>
                  <a:lnTo>
                    <a:pt x="83024" y="767381"/>
                  </a:lnTo>
                  <a:lnTo>
                    <a:pt x="116053" y="795710"/>
                  </a:lnTo>
                  <a:lnTo>
                    <a:pt x="153195" y="818759"/>
                  </a:lnTo>
                  <a:lnTo>
                    <a:pt x="193867" y="835944"/>
                  </a:lnTo>
                  <a:lnTo>
                    <a:pt x="237484" y="846682"/>
                  </a:lnTo>
                  <a:lnTo>
                    <a:pt x="283464" y="850392"/>
                  </a:lnTo>
                  <a:lnTo>
                    <a:pt x="329443" y="846682"/>
                  </a:lnTo>
                  <a:lnTo>
                    <a:pt x="373060" y="835944"/>
                  </a:lnTo>
                  <a:lnTo>
                    <a:pt x="413732" y="818759"/>
                  </a:lnTo>
                  <a:lnTo>
                    <a:pt x="450874" y="795710"/>
                  </a:lnTo>
                  <a:lnTo>
                    <a:pt x="483903" y="767381"/>
                  </a:lnTo>
                  <a:lnTo>
                    <a:pt x="512235" y="734354"/>
                  </a:lnTo>
                  <a:lnTo>
                    <a:pt x="535288" y="697212"/>
                  </a:lnTo>
                  <a:lnTo>
                    <a:pt x="552476" y="656539"/>
                  </a:lnTo>
                  <a:lnTo>
                    <a:pt x="563217" y="612916"/>
                  </a:lnTo>
                  <a:lnTo>
                    <a:pt x="566928" y="566928"/>
                  </a:lnTo>
                  <a:lnTo>
                    <a:pt x="566928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6061" y="5999225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566928"/>
                  </a:lnTo>
                  <a:lnTo>
                    <a:pt x="563217" y="612916"/>
                  </a:lnTo>
                  <a:lnTo>
                    <a:pt x="552476" y="656539"/>
                  </a:lnTo>
                  <a:lnTo>
                    <a:pt x="535288" y="697212"/>
                  </a:lnTo>
                  <a:lnTo>
                    <a:pt x="512235" y="734354"/>
                  </a:lnTo>
                  <a:lnTo>
                    <a:pt x="483903" y="767381"/>
                  </a:lnTo>
                  <a:lnTo>
                    <a:pt x="450874" y="795710"/>
                  </a:lnTo>
                  <a:lnTo>
                    <a:pt x="413732" y="818759"/>
                  </a:lnTo>
                  <a:lnTo>
                    <a:pt x="373060" y="835944"/>
                  </a:lnTo>
                  <a:lnTo>
                    <a:pt x="329443" y="846682"/>
                  </a:lnTo>
                  <a:lnTo>
                    <a:pt x="283464" y="850392"/>
                  </a:lnTo>
                  <a:lnTo>
                    <a:pt x="237484" y="846682"/>
                  </a:lnTo>
                  <a:lnTo>
                    <a:pt x="193867" y="835944"/>
                  </a:lnTo>
                  <a:lnTo>
                    <a:pt x="153195" y="818759"/>
                  </a:lnTo>
                  <a:lnTo>
                    <a:pt x="116053" y="795710"/>
                  </a:lnTo>
                  <a:lnTo>
                    <a:pt x="83024" y="767381"/>
                  </a:lnTo>
                  <a:lnTo>
                    <a:pt x="54692" y="734354"/>
                  </a:lnTo>
                  <a:lnTo>
                    <a:pt x="31639" y="697212"/>
                  </a:lnTo>
                  <a:lnTo>
                    <a:pt x="14451" y="656539"/>
                  </a:lnTo>
                  <a:lnTo>
                    <a:pt x="3710" y="612916"/>
                  </a:lnTo>
                  <a:lnTo>
                    <a:pt x="0" y="566928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0298" y="6230187"/>
            <a:ext cx="13335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C3148"/>
                </a:solidFill>
                <a:latin typeface="Lucida Sans Unicode"/>
                <a:cs typeface="Lucida Sans Unicode"/>
              </a:rPr>
              <a:t>5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91260" y="6073013"/>
            <a:ext cx="4523740" cy="5931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400" dirty="0"/>
              <a:t>Training &amp; Evaluation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dirty="0"/>
              <a:t>Currently running a 200-episode "fast-train" session to get initial models.</a:t>
            </a:r>
            <a:endParaRPr lang="en-IN" sz="11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dirty="0"/>
              <a:t>The evaluate() function is ready to compare models on key metrics.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2251" y="6987540"/>
            <a:ext cx="574675" cy="858519"/>
            <a:chOff x="492251" y="6987540"/>
            <a:chExt cx="574675" cy="858519"/>
          </a:xfrm>
        </p:grpSpPr>
        <p:sp>
          <p:nvSpPr>
            <p:cNvPr id="33" name="object 33"/>
            <p:cNvSpPr/>
            <p:nvPr/>
          </p:nvSpPr>
          <p:spPr>
            <a:xfrm>
              <a:off x="496061" y="6991350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283464" y="0"/>
                  </a:moveTo>
                  <a:lnTo>
                    <a:pt x="237484" y="3710"/>
                  </a:lnTo>
                  <a:lnTo>
                    <a:pt x="193867" y="14451"/>
                  </a:lnTo>
                  <a:lnTo>
                    <a:pt x="153195" y="31639"/>
                  </a:lnTo>
                  <a:lnTo>
                    <a:pt x="116053" y="54692"/>
                  </a:lnTo>
                  <a:lnTo>
                    <a:pt x="83024" y="83024"/>
                  </a:lnTo>
                  <a:lnTo>
                    <a:pt x="54692" y="116053"/>
                  </a:lnTo>
                  <a:lnTo>
                    <a:pt x="31639" y="153195"/>
                  </a:lnTo>
                  <a:lnTo>
                    <a:pt x="14451" y="193867"/>
                  </a:lnTo>
                  <a:lnTo>
                    <a:pt x="3710" y="237484"/>
                  </a:lnTo>
                  <a:lnTo>
                    <a:pt x="0" y="283463"/>
                  </a:lnTo>
                  <a:lnTo>
                    <a:pt x="0" y="566928"/>
                  </a:lnTo>
                  <a:lnTo>
                    <a:pt x="3710" y="612907"/>
                  </a:lnTo>
                  <a:lnTo>
                    <a:pt x="14451" y="656524"/>
                  </a:lnTo>
                  <a:lnTo>
                    <a:pt x="31639" y="697196"/>
                  </a:lnTo>
                  <a:lnTo>
                    <a:pt x="54692" y="734338"/>
                  </a:lnTo>
                  <a:lnTo>
                    <a:pt x="83024" y="767367"/>
                  </a:lnTo>
                  <a:lnTo>
                    <a:pt x="116053" y="795699"/>
                  </a:lnTo>
                  <a:lnTo>
                    <a:pt x="153195" y="818752"/>
                  </a:lnTo>
                  <a:lnTo>
                    <a:pt x="193867" y="835940"/>
                  </a:lnTo>
                  <a:lnTo>
                    <a:pt x="237484" y="846681"/>
                  </a:lnTo>
                  <a:lnTo>
                    <a:pt x="283464" y="850392"/>
                  </a:lnTo>
                  <a:lnTo>
                    <a:pt x="329443" y="846681"/>
                  </a:lnTo>
                  <a:lnTo>
                    <a:pt x="373060" y="835940"/>
                  </a:lnTo>
                  <a:lnTo>
                    <a:pt x="413732" y="818752"/>
                  </a:lnTo>
                  <a:lnTo>
                    <a:pt x="450874" y="795699"/>
                  </a:lnTo>
                  <a:lnTo>
                    <a:pt x="483903" y="767367"/>
                  </a:lnTo>
                  <a:lnTo>
                    <a:pt x="512235" y="734338"/>
                  </a:lnTo>
                  <a:lnTo>
                    <a:pt x="535288" y="697196"/>
                  </a:lnTo>
                  <a:lnTo>
                    <a:pt x="552476" y="656524"/>
                  </a:lnTo>
                  <a:lnTo>
                    <a:pt x="563217" y="612907"/>
                  </a:lnTo>
                  <a:lnTo>
                    <a:pt x="566928" y="566928"/>
                  </a:lnTo>
                  <a:lnTo>
                    <a:pt x="566928" y="283463"/>
                  </a:lnTo>
                  <a:lnTo>
                    <a:pt x="563217" y="237484"/>
                  </a:lnTo>
                  <a:lnTo>
                    <a:pt x="552476" y="193867"/>
                  </a:lnTo>
                  <a:lnTo>
                    <a:pt x="535288" y="153195"/>
                  </a:lnTo>
                  <a:lnTo>
                    <a:pt x="512235" y="116053"/>
                  </a:lnTo>
                  <a:lnTo>
                    <a:pt x="483903" y="83024"/>
                  </a:lnTo>
                  <a:lnTo>
                    <a:pt x="450874" y="54692"/>
                  </a:lnTo>
                  <a:lnTo>
                    <a:pt x="413732" y="31639"/>
                  </a:lnTo>
                  <a:lnTo>
                    <a:pt x="373060" y="14451"/>
                  </a:lnTo>
                  <a:lnTo>
                    <a:pt x="329443" y="371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6061" y="6991350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0" y="283463"/>
                  </a:moveTo>
                  <a:lnTo>
                    <a:pt x="3710" y="237484"/>
                  </a:lnTo>
                  <a:lnTo>
                    <a:pt x="14451" y="193867"/>
                  </a:lnTo>
                  <a:lnTo>
                    <a:pt x="31639" y="153195"/>
                  </a:lnTo>
                  <a:lnTo>
                    <a:pt x="54692" y="116053"/>
                  </a:lnTo>
                  <a:lnTo>
                    <a:pt x="83024" y="83024"/>
                  </a:lnTo>
                  <a:lnTo>
                    <a:pt x="116053" y="54692"/>
                  </a:lnTo>
                  <a:lnTo>
                    <a:pt x="153195" y="31639"/>
                  </a:lnTo>
                  <a:lnTo>
                    <a:pt x="193867" y="14451"/>
                  </a:lnTo>
                  <a:lnTo>
                    <a:pt x="237484" y="3710"/>
                  </a:lnTo>
                  <a:lnTo>
                    <a:pt x="283464" y="0"/>
                  </a:lnTo>
                  <a:lnTo>
                    <a:pt x="329443" y="3710"/>
                  </a:lnTo>
                  <a:lnTo>
                    <a:pt x="373060" y="14451"/>
                  </a:lnTo>
                  <a:lnTo>
                    <a:pt x="413732" y="31639"/>
                  </a:lnTo>
                  <a:lnTo>
                    <a:pt x="450874" y="54692"/>
                  </a:lnTo>
                  <a:lnTo>
                    <a:pt x="483903" y="83024"/>
                  </a:lnTo>
                  <a:lnTo>
                    <a:pt x="512235" y="116053"/>
                  </a:lnTo>
                  <a:lnTo>
                    <a:pt x="535288" y="153195"/>
                  </a:lnTo>
                  <a:lnTo>
                    <a:pt x="552476" y="193867"/>
                  </a:lnTo>
                  <a:lnTo>
                    <a:pt x="563217" y="237484"/>
                  </a:lnTo>
                  <a:lnTo>
                    <a:pt x="566928" y="283463"/>
                  </a:lnTo>
                  <a:lnTo>
                    <a:pt x="566928" y="566928"/>
                  </a:lnTo>
                  <a:lnTo>
                    <a:pt x="563217" y="612907"/>
                  </a:lnTo>
                  <a:lnTo>
                    <a:pt x="552476" y="656524"/>
                  </a:lnTo>
                  <a:lnTo>
                    <a:pt x="535288" y="697196"/>
                  </a:lnTo>
                  <a:lnTo>
                    <a:pt x="512235" y="734338"/>
                  </a:lnTo>
                  <a:lnTo>
                    <a:pt x="483903" y="767367"/>
                  </a:lnTo>
                  <a:lnTo>
                    <a:pt x="450874" y="795699"/>
                  </a:lnTo>
                  <a:lnTo>
                    <a:pt x="413732" y="818752"/>
                  </a:lnTo>
                  <a:lnTo>
                    <a:pt x="373060" y="835940"/>
                  </a:lnTo>
                  <a:lnTo>
                    <a:pt x="329443" y="846681"/>
                  </a:lnTo>
                  <a:lnTo>
                    <a:pt x="283464" y="850392"/>
                  </a:lnTo>
                  <a:lnTo>
                    <a:pt x="237484" y="846681"/>
                  </a:lnTo>
                  <a:lnTo>
                    <a:pt x="193867" y="835940"/>
                  </a:lnTo>
                  <a:lnTo>
                    <a:pt x="153195" y="818752"/>
                  </a:lnTo>
                  <a:lnTo>
                    <a:pt x="116053" y="795699"/>
                  </a:lnTo>
                  <a:lnTo>
                    <a:pt x="83024" y="767367"/>
                  </a:lnTo>
                  <a:lnTo>
                    <a:pt x="54692" y="734338"/>
                  </a:lnTo>
                  <a:lnTo>
                    <a:pt x="31639" y="697196"/>
                  </a:lnTo>
                  <a:lnTo>
                    <a:pt x="14451" y="656524"/>
                  </a:lnTo>
                  <a:lnTo>
                    <a:pt x="3710" y="612907"/>
                  </a:lnTo>
                  <a:lnTo>
                    <a:pt x="0" y="566928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60298" y="7222337"/>
            <a:ext cx="1454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2C3148"/>
                </a:solidFill>
                <a:latin typeface="Lucida Sans Unicode"/>
                <a:cs typeface="Lucida Sans Unicode"/>
              </a:rPr>
              <a:t>6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91260" y="7109866"/>
            <a:ext cx="3669665" cy="688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35" dirty="0">
                <a:solidFill>
                  <a:srgbClr val="2C3148"/>
                </a:solidFill>
                <a:latin typeface="Lucida Sans Unicode"/>
                <a:cs typeface="Lucida Sans Unicode"/>
              </a:rPr>
              <a:t>Analysis</a:t>
            </a:r>
            <a:r>
              <a:rPr sz="1350" spc="-12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2C3148"/>
                </a:solidFill>
                <a:latin typeface="Lucida Sans Unicode"/>
                <a:cs typeface="Lucida Sans Unicode"/>
              </a:rPr>
              <a:t>&amp;</a:t>
            </a:r>
            <a:r>
              <a:rPr sz="1350" spc="-9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Reporting</a:t>
            </a:r>
            <a:endParaRPr sz="13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100" dirty="0"/>
              <a:t>We will analyze the final comparison table to select the two best-performing agents.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0168" y="550239"/>
            <a:ext cx="25203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272C45"/>
                </a:solidFill>
                <a:latin typeface="Lucida Sans Unicode"/>
                <a:cs typeface="Lucida Sans Unicode"/>
              </a:rPr>
              <a:t>Technology</a:t>
            </a:r>
            <a:r>
              <a:rPr sz="1800" spc="-10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72C45"/>
                </a:solidFill>
                <a:latin typeface="Lucida Sans Unicode"/>
                <a:cs typeface="Lucida Sans Unicode"/>
              </a:rPr>
              <a:t>&amp;</a:t>
            </a:r>
            <a:r>
              <a:rPr sz="1800" spc="-10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72C45"/>
                </a:solidFill>
                <a:latin typeface="Lucida Sans Unicode"/>
                <a:cs typeface="Lucida Sans Unicode"/>
              </a:rPr>
              <a:t>Resources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05104" y="1102816"/>
            <a:ext cx="752284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40" dirty="0"/>
              <a:t>Our</a:t>
            </a:r>
            <a:r>
              <a:rPr sz="5100" spc="-400" dirty="0"/>
              <a:t> </a:t>
            </a:r>
            <a:r>
              <a:rPr sz="5100" spc="-225" dirty="0"/>
              <a:t>Implementation</a:t>
            </a:r>
            <a:r>
              <a:rPr sz="5100" spc="-375" dirty="0"/>
              <a:t> </a:t>
            </a:r>
            <a:r>
              <a:rPr sz="5100" spc="-90" dirty="0"/>
              <a:t>Stack</a:t>
            </a:r>
            <a:endParaRPr sz="5100"/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194" y="2336292"/>
            <a:ext cx="426719" cy="6019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0168" y="3166059"/>
            <a:ext cx="6263005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20" dirty="0">
                <a:solidFill>
                  <a:srgbClr val="2C3148"/>
                </a:solidFill>
                <a:latin typeface="Lucida Sans Unicode"/>
                <a:cs typeface="Lucida Sans Unicode"/>
              </a:rPr>
              <a:t>SUMO</a:t>
            </a:r>
            <a:endParaRPr sz="1950">
              <a:latin typeface="Lucida Sans Unicode"/>
              <a:cs typeface="Lucida Sans Unicode"/>
            </a:endParaRPr>
          </a:p>
          <a:p>
            <a:pPr marL="12700" marR="5080">
              <a:lnSpc>
                <a:spcPct val="131000"/>
              </a:lnSpc>
              <a:spcBef>
                <a:spcPts val="844"/>
              </a:spcBef>
            </a:pP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Traffic</a:t>
            </a:r>
            <a:r>
              <a:rPr sz="1550" b="1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Simulation:</a:t>
            </a:r>
            <a:r>
              <a:rPr sz="1550" b="1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Used</a:t>
            </a:r>
            <a:r>
              <a:rPr sz="15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2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5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high-</a:t>
            </a:r>
            <a:r>
              <a:rPr sz="1550" spc="90" dirty="0">
                <a:solidFill>
                  <a:srgbClr val="2C3148"/>
                </a:solidFill>
                <a:latin typeface="Arial"/>
                <a:cs typeface="Arial"/>
              </a:rPr>
              <a:t>fidelity,</a:t>
            </a:r>
            <a:r>
              <a:rPr sz="155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2C3148"/>
                </a:solidFill>
                <a:latin typeface="Arial"/>
                <a:cs typeface="Arial"/>
              </a:rPr>
              <a:t>microscopic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2C3148"/>
                </a:solidFill>
                <a:latin typeface="Arial"/>
                <a:cs typeface="Arial"/>
              </a:rPr>
              <a:t>modelling</a:t>
            </a:r>
            <a:r>
              <a:rPr sz="155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00" dirty="0">
                <a:solidFill>
                  <a:srgbClr val="2C3148"/>
                </a:solidFill>
                <a:latin typeface="Arial"/>
                <a:cs typeface="Arial"/>
              </a:rPr>
              <a:t>of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vehicle</a:t>
            </a:r>
            <a:r>
              <a:rPr sz="15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movements</a:t>
            </a:r>
            <a:r>
              <a:rPr sz="1550" spc="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550" spc="6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C3148"/>
                </a:solidFill>
                <a:latin typeface="Arial"/>
                <a:cs typeface="Arial"/>
              </a:rPr>
              <a:t>highway</a:t>
            </a:r>
            <a:r>
              <a:rPr sz="1550" spc="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C3148"/>
                </a:solidFill>
                <a:latin typeface="Arial"/>
                <a:cs typeface="Arial"/>
              </a:rPr>
              <a:t>geometry.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6905" y="2336292"/>
            <a:ext cx="550028" cy="6019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28738" y="3166059"/>
            <a:ext cx="5917565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30" dirty="0">
                <a:solidFill>
                  <a:srgbClr val="2C3148"/>
                </a:solidFill>
                <a:latin typeface="Lucida Sans Unicode"/>
                <a:cs typeface="Lucida Sans Unicode"/>
              </a:rPr>
              <a:t>Python</a:t>
            </a:r>
            <a:r>
              <a:rPr sz="1950" spc="-14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110" dirty="0">
                <a:solidFill>
                  <a:srgbClr val="2C3148"/>
                </a:solidFill>
                <a:latin typeface="Lucida Sans Unicode"/>
                <a:cs typeface="Lucida Sans Unicode"/>
              </a:rPr>
              <a:t>(TraCI</a:t>
            </a:r>
            <a:r>
              <a:rPr sz="1950" spc="-15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20" dirty="0">
                <a:solidFill>
                  <a:srgbClr val="2C3148"/>
                </a:solidFill>
                <a:latin typeface="Lucida Sans Unicode"/>
                <a:cs typeface="Lucida Sans Unicode"/>
              </a:rPr>
              <a:t>API)</a:t>
            </a:r>
            <a:endParaRPr sz="1950">
              <a:latin typeface="Lucida Sans Unicode"/>
              <a:cs typeface="Lucida Sans Unicode"/>
            </a:endParaRPr>
          </a:p>
          <a:p>
            <a:pPr marL="12700" marR="5080">
              <a:lnSpc>
                <a:spcPct val="131000"/>
              </a:lnSpc>
              <a:spcBef>
                <a:spcPts val="844"/>
              </a:spcBef>
            </a:pP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Interface</a:t>
            </a:r>
            <a:r>
              <a:rPr sz="1550" b="1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sz="1550" b="1" spc="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Control:</a:t>
            </a:r>
            <a:r>
              <a:rPr sz="1550" b="1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Provides</a:t>
            </a:r>
            <a:r>
              <a:rPr sz="1550" spc="95" dirty="0">
                <a:solidFill>
                  <a:srgbClr val="2C3148"/>
                </a:solidFill>
                <a:latin typeface="Arial"/>
                <a:cs typeface="Arial"/>
              </a:rPr>
              <a:t> the</a:t>
            </a:r>
            <a:r>
              <a:rPr sz="1550" spc="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necessary</a:t>
            </a:r>
            <a:r>
              <a:rPr sz="15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hooks</a:t>
            </a:r>
            <a:r>
              <a:rPr sz="1550" spc="8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2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real-</a:t>
            </a:r>
            <a:r>
              <a:rPr sz="1550" spc="85" dirty="0">
                <a:solidFill>
                  <a:srgbClr val="2C3148"/>
                </a:solidFill>
                <a:latin typeface="Arial"/>
                <a:cs typeface="Arial"/>
              </a:rPr>
              <a:t>time </a:t>
            </a:r>
            <a:r>
              <a:rPr sz="1550" spc="90" dirty="0">
                <a:solidFill>
                  <a:srgbClr val="2C3148"/>
                </a:solidFill>
                <a:latin typeface="Arial"/>
                <a:cs typeface="Arial"/>
              </a:rPr>
              <a:t>control</a:t>
            </a:r>
            <a:r>
              <a:rPr sz="15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5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sz="15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C3148"/>
                </a:solidFill>
                <a:latin typeface="Arial"/>
                <a:cs typeface="Arial"/>
              </a:rPr>
              <a:t>extraction</a:t>
            </a:r>
            <a:r>
              <a:rPr sz="15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20" dirty="0">
                <a:solidFill>
                  <a:srgbClr val="2C3148"/>
                </a:solidFill>
                <a:latin typeface="Arial"/>
                <a:cs typeface="Arial"/>
              </a:rPr>
              <a:t>from</a:t>
            </a:r>
            <a:r>
              <a:rPr sz="15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95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5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SUMO</a:t>
            </a:r>
            <a:r>
              <a:rPr sz="1550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2C3148"/>
                </a:solidFill>
                <a:latin typeface="Arial"/>
                <a:cs typeface="Arial"/>
              </a:rPr>
              <a:t>environment.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2563" y="4700865"/>
            <a:ext cx="601980" cy="5347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90168" y="5498083"/>
            <a:ext cx="6402705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60" dirty="0">
                <a:solidFill>
                  <a:srgbClr val="2C3148"/>
                </a:solidFill>
                <a:latin typeface="Lucida Sans Unicode"/>
                <a:cs typeface="Lucida Sans Unicode"/>
              </a:rPr>
              <a:t>PyTorch</a:t>
            </a:r>
            <a:r>
              <a:rPr sz="1950" spc="-17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225" dirty="0">
                <a:solidFill>
                  <a:srgbClr val="2C3148"/>
                </a:solidFill>
                <a:latin typeface="Lucida Sans Unicode"/>
                <a:cs typeface="Lucida Sans Unicode"/>
              </a:rPr>
              <a:t>/</a:t>
            </a:r>
            <a:r>
              <a:rPr sz="1950" spc="-14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55" dirty="0">
                <a:solidFill>
                  <a:srgbClr val="2C3148"/>
                </a:solidFill>
                <a:latin typeface="Lucida Sans Unicode"/>
                <a:cs typeface="Lucida Sans Unicode"/>
              </a:rPr>
              <a:t>RL</a:t>
            </a:r>
            <a:r>
              <a:rPr sz="1950" spc="-14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Libraries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550" b="1" spc="-80" dirty="0">
                <a:solidFill>
                  <a:srgbClr val="2C3148"/>
                </a:solidFill>
                <a:latin typeface="Arial"/>
                <a:cs typeface="Arial"/>
              </a:rPr>
              <a:t>RL</a:t>
            </a:r>
            <a:r>
              <a:rPr sz="1550" b="1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Implementation:</a:t>
            </a:r>
            <a:r>
              <a:rPr sz="1550" b="1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Core</a:t>
            </a:r>
            <a:r>
              <a:rPr sz="155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C3148"/>
                </a:solidFill>
                <a:latin typeface="Arial"/>
                <a:cs typeface="Arial"/>
              </a:rPr>
              <a:t>framework</a:t>
            </a:r>
            <a:r>
              <a:rPr sz="155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2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55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developing</a:t>
            </a:r>
            <a:r>
              <a:rPr sz="1550" spc="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55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Arial"/>
                <a:cs typeface="Arial"/>
              </a:rPr>
              <a:t>training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550" spc="-65" dirty="0">
                <a:solidFill>
                  <a:srgbClr val="2C3148"/>
                </a:solidFill>
                <a:latin typeface="Arial"/>
                <a:cs typeface="Arial"/>
              </a:rPr>
              <a:t>DDPG-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based</a:t>
            </a:r>
            <a:r>
              <a:rPr sz="155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C3148"/>
                </a:solidFill>
                <a:latin typeface="Arial"/>
                <a:cs typeface="Arial"/>
              </a:rPr>
              <a:t>adaptive</a:t>
            </a:r>
            <a:r>
              <a:rPr sz="155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merging</a:t>
            </a:r>
            <a:r>
              <a:rPr sz="155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2C3148"/>
                </a:solidFill>
                <a:latin typeface="Arial"/>
                <a:cs typeface="Arial"/>
              </a:rPr>
              <a:t>agent.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3" name="object 13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40168" y="4666488"/>
            <a:ext cx="603503" cy="60350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428738" y="5498083"/>
            <a:ext cx="5579110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60" dirty="0">
                <a:solidFill>
                  <a:srgbClr val="2C3148"/>
                </a:solidFill>
                <a:latin typeface="Lucida Sans Unicode"/>
                <a:cs typeface="Lucida Sans Unicode"/>
              </a:rPr>
              <a:t>Pandas</a:t>
            </a:r>
            <a:r>
              <a:rPr sz="1950" spc="-16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90" dirty="0">
                <a:solidFill>
                  <a:srgbClr val="2C3148"/>
                </a:solidFill>
                <a:latin typeface="Lucida Sans Unicode"/>
                <a:cs typeface="Lucida Sans Unicode"/>
              </a:rPr>
              <a:t>&amp;</a:t>
            </a:r>
            <a:r>
              <a:rPr sz="1950" spc="-15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Matplotlib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Evaluation</a:t>
            </a:r>
            <a:r>
              <a:rPr sz="1550" b="1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sz="1550" b="1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C3148"/>
                </a:solidFill>
                <a:latin typeface="Arial"/>
                <a:cs typeface="Arial"/>
              </a:rPr>
              <a:t>Reporting:</a:t>
            </a:r>
            <a:r>
              <a:rPr sz="1550" b="1" spc="-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Essential</a:t>
            </a:r>
            <a:r>
              <a:rPr sz="155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Arial"/>
                <a:cs typeface="Arial"/>
              </a:rPr>
              <a:t>tools</a:t>
            </a:r>
            <a:r>
              <a:rPr sz="155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125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55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2C3148"/>
                </a:solidFill>
                <a:latin typeface="Arial"/>
                <a:cs typeface="Arial"/>
              </a:rPr>
              <a:t>rigorous</a:t>
            </a:r>
            <a:r>
              <a:rPr sz="155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C3148"/>
                </a:solidFill>
                <a:latin typeface="Arial"/>
                <a:cs typeface="Arial"/>
              </a:rPr>
              <a:t>metrics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550" spc="65" dirty="0">
                <a:solidFill>
                  <a:srgbClr val="2C3148"/>
                </a:solidFill>
                <a:latin typeface="Arial"/>
                <a:cs typeface="Arial"/>
              </a:rPr>
              <a:t>calculation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550" spc="6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3148"/>
                </a:solidFill>
                <a:latin typeface="Arial"/>
                <a:cs typeface="Arial"/>
              </a:rPr>
              <a:t>clear</a:t>
            </a:r>
            <a:r>
              <a:rPr sz="1550" spc="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sz="1550" spc="5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550" spc="45" dirty="0">
                <a:solidFill>
                  <a:srgbClr val="2C3148"/>
                </a:solidFill>
                <a:latin typeface="Arial"/>
                <a:cs typeface="Arial"/>
              </a:rPr>
              <a:t>visualisation.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2563" y="6822947"/>
            <a:ext cx="13225780" cy="852169"/>
            <a:chOff x="702563" y="6822947"/>
            <a:chExt cx="13225780" cy="852169"/>
          </a:xfrm>
        </p:grpSpPr>
        <p:sp>
          <p:nvSpPr>
            <p:cNvPr id="16" name="object 16"/>
            <p:cNvSpPr/>
            <p:nvPr/>
          </p:nvSpPr>
          <p:spPr>
            <a:xfrm>
              <a:off x="702563" y="6822947"/>
              <a:ext cx="13225780" cy="852169"/>
            </a:xfrm>
            <a:custGeom>
              <a:avLst/>
              <a:gdLst/>
              <a:ahLst/>
              <a:cxnLst/>
              <a:rect l="l" t="t" r="r" b="b"/>
              <a:pathLst>
                <a:path w="13225780" h="852170">
                  <a:moveTo>
                    <a:pt x="13141071" y="0"/>
                  </a:moveTo>
                  <a:lnTo>
                    <a:pt x="84239" y="0"/>
                  </a:lnTo>
                  <a:lnTo>
                    <a:pt x="51451" y="6619"/>
                  </a:lnTo>
                  <a:lnTo>
                    <a:pt x="24674" y="24669"/>
                  </a:lnTo>
                  <a:lnTo>
                    <a:pt x="6620" y="51434"/>
                  </a:lnTo>
                  <a:lnTo>
                    <a:pt x="0" y="84200"/>
                  </a:lnTo>
                  <a:lnTo>
                    <a:pt x="0" y="767676"/>
                  </a:lnTo>
                  <a:lnTo>
                    <a:pt x="6620" y="800464"/>
                  </a:lnTo>
                  <a:lnTo>
                    <a:pt x="24674" y="827241"/>
                  </a:lnTo>
                  <a:lnTo>
                    <a:pt x="51451" y="845295"/>
                  </a:lnTo>
                  <a:lnTo>
                    <a:pt x="84239" y="851915"/>
                  </a:lnTo>
                  <a:lnTo>
                    <a:pt x="13141071" y="851915"/>
                  </a:lnTo>
                  <a:lnTo>
                    <a:pt x="13173837" y="845295"/>
                  </a:lnTo>
                  <a:lnTo>
                    <a:pt x="13200602" y="827241"/>
                  </a:lnTo>
                  <a:lnTo>
                    <a:pt x="13218652" y="800464"/>
                  </a:lnTo>
                  <a:lnTo>
                    <a:pt x="13225272" y="767676"/>
                  </a:lnTo>
                  <a:lnTo>
                    <a:pt x="13225272" y="84200"/>
                  </a:lnTo>
                  <a:lnTo>
                    <a:pt x="13218652" y="51434"/>
                  </a:lnTo>
                  <a:lnTo>
                    <a:pt x="13200602" y="24669"/>
                  </a:lnTo>
                  <a:lnTo>
                    <a:pt x="13173837" y="6619"/>
                  </a:lnTo>
                  <a:lnTo>
                    <a:pt x="13141071" y="0"/>
                  </a:lnTo>
                  <a:close/>
                </a:path>
              </a:pathLst>
            </a:custGeom>
            <a:solidFill>
              <a:srgbClr val="CFE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3731" y="7103363"/>
              <a:ext cx="251459" cy="20116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42771" y="7086396"/>
            <a:ext cx="892746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Arial"/>
                <a:cs typeface="Arial"/>
              </a:rPr>
              <a:t>This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spc="75" dirty="0">
                <a:latin typeface="Arial"/>
                <a:cs typeface="Arial"/>
              </a:rPr>
              <a:t>integrated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spc="65" dirty="0">
                <a:latin typeface="Arial"/>
                <a:cs typeface="Arial"/>
              </a:rPr>
              <a:t>stack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is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spc="75" dirty="0">
                <a:latin typeface="Arial"/>
                <a:cs typeface="Arial"/>
              </a:rPr>
              <a:t>optimised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125" dirty="0">
                <a:latin typeface="Arial"/>
                <a:cs typeface="Arial"/>
              </a:rPr>
              <a:t>for</a:t>
            </a:r>
            <a:r>
              <a:rPr sz="1550" dirty="0">
                <a:latin typeface="Arial"/>
                <a:cs typeface="Arial"/>
              </a:rPr>
              <a:t> </a:t>
            </a:r>
            <a:r>
              <a:rPr sz="1550" spc="105" dirty="0">
                <a:latin typeface="Arial"/>
                <a:cs typeface="Arial"/>
              </a:rPr>
              <a:t>both</a:t>
            </a:r>
            <a:r>
              <a:rPr sz="1550" dirty="0">
                <a:latin typeface="Arial"/>
                <a:cs typeface="Arial"/>
              </a:rPr>
              <a:t> </a:t>
            </a:r>
            <a:r>
              <a:rPr sz="1550" spc="65" dirty="0">
                <a:latin typeface="Arial"/>
                <a:cs typeface="Arial"/>
              </a:rPr>
              <a:t>complex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80" dirty="0">
                <a:latin typeface="Arial"/>
                <a:cs typeface="Arial"/>
              </a:rPr>
              <a:t>simulation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deep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50" dirty="0">
                <a:latin typeface="Arial"/>
                <a:cs typeface="Arial"/>
              </a:rPr>
              <a:t>learning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spc="75" dirty="0">
                <a:latin typeface="Arial"/>
                <a:cs typeface="Arial"/>
              </a:rPr>
              <a:t>computation.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Performance</a:t>
            </a:r>
            <a:r>
              <a:rPr spc="-85" dirty="0"/>
              <a:t> </a:t>
            </a:r>
            <a:r>
              <a:rPr spc="-75" dirty="0"/>
              <a:t>Measurement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134" y="793495"/>
            <a:ext cx="8007984" cy="1309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60" dirty="0">
                <a:solidFill>
                  <a:srgbClr val="272C45"/>
                </a:solidFill>
                <a:latin typeface="Lucida Sans Unicode"/>
                <a:cs typeface="Lucida Sans Unicode"/>
              </a:rPr>
              <a:t>Expected</a:t>
            </a:r>
            <a:r>
              <a:rPr sz="3900" spc="-31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3900" spc="-225" dirty="0">
                <a:solidFill>
                  <a:srgbClr val="272C45"/>
                </a:solidFill>
                <a:latin typeface="Lucida Sans Unicode"/>
                <a:cs typeface="Lucida Sans Unicode"/>
              </a:rPr>
              <a:t>Outcomes</a:t>
            </a:r>
            <a:r>
              <a:rPr sz="3900" spc="-2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3900" spc="-170" dirty="0">
                <a:solidFill>
                  <a:srgbClr val="272C45"/>
                </a:solidFill>
                <a:latin typeface="Lucida Sans Unicode"/>
                <a:cs typeface="Lucida Sans Unicode"/>
              </a:rPr>
              <a:t>&amp;</a:t>
            </a:r>
            <a:r>
              <a:rPr sz="3900" spc="-2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z="3900" spc="-30" dirty="0">
                <a:solidFill>
                  <a:srgbClr val="272C45"/>
                </a:solidFill>
                <a:latin typeface="Lucida Sans Unicode"/>
                <a:cs typeface="Lucida Sans Unicode"/>
              </a:rPr>
              <a:t>Metrics</a:t>
            </a:r>
            <a:endParaRPr sz="3900">
              <a:latin typeface="Lucida Sans Unicode"/>
              <a:cs typeface="Lucida Sans Unicode"/>
            </a:endParaRPr>
          </a:p>
          <a:p>
            <a:pPr marL="12700" marR="5080">
              <a:lnSpc>
                <a:spcPct val="132700"/>
              </a:lnSpc>
              <a:spcBef>
                <a:spcPts val="1925"/>
              </a:spcBef>
            </a:pP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Our</a:t>
            </a:r>
            <a:r>
              <a:rPr sz="110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evaluation</a:t>
            </a:r>
            <a:r>
              <a:rPr sz="11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65" dirty="0">
                <a:solidFill>
                  <a:srgbClr val="2C3148"/>
                </a:solidFill>
                <a:latin typeface="Arial"/>
                <a:cs typeface="Arial"/>
              </a:rPr>
              <a:t>will</a:t>
            </a:r>
            <a:r>
              <a:rPr sz="110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focus</a:t>
            </a:r>
            <a:r>
              <a:rPr sz="110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on</a:t>
            </a:r>
            <a:r>
              <a:rPr sz="11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C3148"/>
                </a:solidFill>
                <a:latin typeface="Arial"/>
                <a:cs typeface="Arial"/>
              </a:rPr>
              <a:t>critical</a:t>
            </a:r>
            <a:r>
              <a:rPr sz="110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performance</a:t>
            </a:r>
            <a:r>
              <a:rPr sz="110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indicators</a:t>
            </a:r>
            <a:r>
              <a:rPr sz="11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95" dirty="0">
                <a:solidFill>
                  <a:srgbClr val="2C3148"/>
                </a:solidFill>
                <a:latin typeface="Arial"/>
                <a:cs typeface="Arial"/>
              </a:rPr>
              <a:t>that</a:t>
            </a:r>
            <a:r>
              <a:rPr sz="110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2C3148"/>
                </a:solidFill>
                <a:latin typeface="Arial"/>
                <a:cs typeface="Arial"/>
              </a:rPr>
              <a:t>validate</a:t>
            </a:r>
            <a:r>
              <a:rPr sz="11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7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100" spc="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effectiveness</a:t>
            </a:r>
            <a:r>
              <a:rPr sz="110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2C3148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70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C3148"/>
                </a:solidFill>
                <a:latin typeface="Arial"/>
                <a:cs typeface="Arial"/>
              </a:rPr>
              <a:t>communication-</a:t>
            </a:r>
            <a:r>
              <a:rPr sz="1100" spc="-10" dirty="0">
                <a:solidFill>
                  <a:srgbClr val="2C3148"/>
                </a:solidFill>
                <a:latin typeface="Arial"/>
                <a:cs typeface="Arial"/>
              </a:rPr>
              <a:t>aware </a:t>
            </a:r>
            <a:r>
              <a:rPr sz="1100" spc="45" dirty="0">
                <a:solidFill>
                  <a:srgbClr val="2C3148"/>
                </a:solidFill>
                <a:latin typeface="Arial"/>
                <a:cs typeface="Arial"/>
              </a:rPr>
              <a:t>controller.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2158" y="2292095"/>
          <a:ext cx="8143240" cy="554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030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700" spc="-10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Safety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105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Collision</a:t>
                      </a:r>
                      <a:r>
                        <a:rPr sz="1100" spc="3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Rate</a:t>
                      </a:r>
                      <a:r>
                        <a:rPr sz="1100" spc="8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(Primary</a:t>
                      </a:r>
                      <a:r>
                        <a:rPr sz="1100" spc="5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4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Metric)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89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6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sz="1100" spc="12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Safety</a:t>
                      </a:r>
                      <a:r>
                        <a:rPr sz="1100" spc="1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r>
                        <a:rPr sz="1100" spc="114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4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Maintained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5255" marB="0">
                    <a:lnL w="28575">
                      <a:solidFill>
                        <a:srgbClr val="C5D2CF"/>
                      </a:solidFill>
                      <a:prstDash val="solid"/>
                    </a:lnL>
                    <a:lnR w="9525">
                      <a:solidFill>
                        <a:srgbClr val="C5D2CF"/>
                      </a:solidFill>
                      <a:prstDash val="solid"/>
                    </a:lnR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  <a:solidFill>
                      <a:srgbClr val="DF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D2CF"/>
                      </a:solidFill>
                      <a:prstDash val="solid"/>
                    </a:lnL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700" spc="-10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Efficiency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105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Average</a:t>
                      </a:r>
                      <a:r>
                        <a:rPr sz="1100" spc="6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Merge</a:t>
                      </a:r>
                      <a:r>
                        <a:rPr sz="1100" spc="6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Time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89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Highway</a:t>
                      </a:r>
                      <a:r>
                        <a:rPr sz="1100" spc="6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Throughput</a:t>
                      </a:r>
                      <a:r>
                        <a:rPr sz="1100" spc="7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(Vehicles</a:t>
                      </a:r>
                      <a:r>
                        <a:rPr sz="1100" spc="2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sz="1100" spc="8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hour)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4620" marB="0">
                    <a:lnL w="28575">
                      <a:solidFill>
                        <a:srgbClr val="C5D2CF"/>
                      </a:solidFill>
                      <a:prstDash val="solid"/>
                    </a:lnL>
                    <a:lnR w="9525">
                      <a:solidFill>
                        <a:srgbClr val="C5D2CF"/>
                      </a:solidFill>
                      <a:prstDash val="solid"/>
                    </a:lnR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  <a:solidFill>
                      <a:srgbClr val="DF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D2CF"/>
                      </a:solidFill>
                      <a:prstDash val="solid"/>
                    </a:lnL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30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700" spc="-90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Communication</a:t>
                      </a:r>
                      <a:r>
                        <a:rPr sz="1700" spc="-65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700" spc="-10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Awareness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1055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-9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E-</a:t>
                      </a:r>
                      <a:r>
                        <a:rPr sz="110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AoI</a:t>
                      </a:r>
                      <a:r>
                        <a:rPr sz="1100" spc="7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Performance</a:t>
                      </a:r>
                      <a:r>
                        <a:rPr sz="1100" spc="5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6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sz="1100" spc="1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100" spc="114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Decisions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89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Robustness</a:t>
                      </a:r>
                      <a:r>
                        <a:rPr sz="1100" spc="114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against</a:t>
                      </a:r>
                      <a:r>
                        <a:rPr sz="1100" spc="15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100" spc="14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Packet</a:t>
                      </a:r>
                      <a:r>
                        <a:rPr sz="1100" spc="1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Loss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5255" marB="0">
                    <a:lnL w="28575">
                      <a:solidFill>
                        <a:srgbClr val="C5D2CF"/>
                      </a:solidFill>
                      <a:prstDash val="solid"/>
                    </a:lnL>
                    <a:lnR w="9525">
                      <a:solidFill>
                        <a:srgbClr val="C5D2CF"/>
                      </a:solidFill>
                      <a:prstDash val="solid"/>
                    </a:lnR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  <a:solidFill>
                      <a:srgbClr val="DF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D2CF"/>
                      </a:solidFill>
                      <a:prstDash val="solid"/>
                    </a:lnL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700" spc="-10" dirty="0">
                          <a:solidFill>
                            <a:srgbClr val="2C3148"/>
                          </a:solidFill>
                          <a:latin typeface="Lucida Sans Unicode"/>
                          <a:cs typeface="Lucida Sans Unicode"/>
                        </a:rPr>
                        <a:t>Comfort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1055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Acceleration</a:t>
                      </a:r>
                      <a:r>
                        <a:rPr sz="1100" spc="1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14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Deceleration</a:t>
                      </a:r>
                      <a:r>
                        <a:rPr sz="1100" spc="14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Smoothness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93395" indent="-342900">
                        <a:lnSpc>
                          <a:spcPct val="100000"/>
                        </a:lnSpc>
                        <a:spcBef>
                          <a:spcPts val="890"/>
                        </a:spcBef>
                        <a:buChar char="•"/>
                        <a:tabLst>
                          <a:tab pos="493395" algn="l"/>
                        </a:tabLst>
                      </a:pPr>
                      <a:r>
                        <a:rPr sz="1100" spc="-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Jerk</a:t>
                      </a:r>
                      <a:r>
                        <a:rPr sz="1100" spc="-5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Rate</a:t>
                      </a:r>
                      <a:r>
                        <a:rPr sz="1100" spc="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148"/>
                          </a:solidFill>
                          <a:latin typeface="Arial"/>
                          <a:cs typeface="Arial"/>
                        </a:rPr>
                        <a:t>Analysis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4620" marB="0">
                    <a:lnL w="28575">
                      <a:solidFill>
                        <a:srgbClr val="C5D2CF"/>
                      </a:solidFill>
                      <a:prstDash val="solid"/>
                    </a:lnL>
                    <a:lnR w="9525">
                      <a:solidFill>
                        <a:srgbClr val="C5D2CF"/>
                      </a:solidFill>
                      <a:prstDash val="solid"/>
                    </a:lnR>
                    <a:lnT w="9525">
                      <a:solidFill>
                        <a:srgbClr val="C5D2CF"/>
                      </a:solidFill>
                      <a:prstDash val="solid"/>
                    </a:lnT>
                    <a:lnB w="9525">
                      <a:solidFill>
                        <a:srgbClr val="C5D2CF"/>
                      </a:solidFill>
                      <a:prstDash val="solid"/>
                    </a:lnB>
                    <a:solidFill>
                      <a:srgbClr val="DF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5025" y="368934"/>
            <a:ext cx="1991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Chapter</a:t>
            </a:r>
            <a:r>
              <a:rPr spc="-125" dirty="0"/>
              <a:t> </a:t>
            </a:r>
            <a:r>
              <a:rPr spc="-120" dirty="0"/>
              <a:t>IV:</a:t>
            </a:r>
            <a:r>
              <a:rPr spc="-125" dirty="0"/>
              <a:t> </a:t>
            </a:r>
            <a:r>
              <a:rPr spc="-75" dirty="0"/>
              <a:t>Outlook</a:t>
            </a:r>
          </a:p>
        </p:txBody>
      </p:sp>
      <p:pic>
        <p:nvPicPr>
          <p:cNvPr id="6" name="object 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116" y="2421635"/>
            <a:ext cx="6577583" cy="4750308"/>
          </a:xfrm>
          <a:prstGeom prst="rect">
            <a:avLst/>
          </a:prstGeom>
        </p:spPr>
      </p:pic>
      <p:pic>
        <p:nvPicPr>
          <p:cNvPr id="7" name="object 7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756" y="2603713"/>
            <a:ext cx="234696" cy="205118"/>
          </a:xfrm>
          <a:prstGeom prst="rect">
            <a:avLst/>
          </a:prstGeom>
        </p:spPr>
      </p:pic>
      <p:pic>
        <p:nvPicPr>
          <p:cNvPr id="8" name="object 8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756" y="3833341"/>
            <a:ext cx="234696" cy="204055"/>
          </a:xfrm>
          <a:prstGeom prst="rect">
            <a:avLst/>
          </a:prstGeom>
        </p:spPr>
      </p:pic>
      <p:pic>
        <p:nvPicPr>
          <p:cNvPr id="9" name="object 9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756" y="5273761"/>
            <a:ext cx="234696" cy="2051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5025" y="860297"/>
            <a:ext cx="13549630" cy="6070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4400" dirty="0"/>
              <a:t>Challenges Encountered &amp; Mitigation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400" spc="65" dirty="0">
              <a:solidFill>
                <a:srgbClr val="2C314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5" dirty="0">
                <a:solidFill>
                  <a:srgbClr val="2C3148"/>
                </a:solidFill>
                <a:latin typeface="Arial"/>
                <a:cs typeface="Arial"/>
              </a:rPr>
              <a:t>Anticipating</a:t>
            </a:r>
            <a:r>
              <a:rPr sz="120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75" dirty="0">
                <a:solidFill>
                  <a:srgbClr val="2C3148"/>
                </a:solidFill>
                <a:latin typeface="Arial"/>
                <a:cs typeface="Arial"/>
              </a:rPr>
              <a:t>potential</a:t>
            </a:r>
            <a:r>
              <a:rPr sz="120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2C3148"/>
                </a:solidFill>
                <a:latin typeface="Arial"/>
                <a:cs typeface="Arial"/>
              </a:rPr>
              <a:t>roadblocks is</a:t>
            </a:r>
            <a:r>
              <a:rPr sz="120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2C3148"/>
                </a:solidFill>
                <a:latin typeface="Arial"/>
                <a:cs typeface="Arial"/>
              </a:rPr>
              <a:t>crucial</a:t>
            </a:r>
            <a:r>
              <a:rPr sz="1200" spc="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200" spc="3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2C3148"/>
                </a:solidFill>
                <a:latin typeface="Arial"/>
                <a:cs typeface="Arial"/>
              </a:rPr>
              <a:t>maintaining</a:t>
            </a:r>
            <a:r>
              <a:rPr sz="1200" spc="-1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2C3148"/>
                </a:solidFill>
                <a:latin typeface="Arial"/>
                <a:cs typeface="Arial"/>
              </a:rPr>
              <a:t>project</a:t>
            </a:r>
            <a:r>
              <a:rPr sz="1200" spc="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75" dirty="0">
                <a:solidFill>
                  <a:srgbClr val="2C3148"/>
                </a:solidFill>
                <a:latin typeface="Arial"/>
                <a:cs typeface="Arial"/>
              </a:rPr>
              <a:t>momentum</a:t>
            </a:r>
            <a:r>
              <a:rPr sz="120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sz="1200" spc="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2C3148"/>
                </a:solidFill>
                <a:latin typeface="Arial"/>
                <a:cs typeface="Arial"/>
              </a:rPr>
              <a:t>ensuring</a:t>
            </a:r>
            <a:r>
              <a:rPr sz="120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2C3148"/>
                </a:solidFill>
                <a:latin typeface="Arial"/>
                <a:cs typeface="Arial"/>
              </a:rPr>
              <a:t>successful </a:t>
            </a:r>
            <a:r>
              <a:rPr sz="1200" spc="55" dirty="0">
                <a:solidFill>
                  <a:srgbClr val="2C3148"/>
                </a:solidFill>
                <a:latin typeface="Arial"/>
                <a:cs typeface="Arial"/>
              </a:rPr>
              <a:t>implementation.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 dirty="0">
              <a:latin typeface="Arial"/>
              <a:cs typeface="Arial"/>
            </a:endParaRPr>
          </a:p>
          <a:p>
            <a:pPr marL="7487920">
              <a:lnSpc>
                <a:spcPct val="100000"/>
              </a:lnSpc>
            </a:pPr>
            <a:endParaRPr lang="en-US" spc="-110" dirty="0">
              <a:solidFill>
                <a:srgbClr val="2C3148"/>
              </a:solidFill>
              <a:latin typeface="Lucida Sans Unicode"/>
              <a:cs typeface="Lucida Sans Unicode"/>
            </a:endParaRPr>
          </a:p>
          <a:p>
            <a:pPr marL="7487920">
              <a:lnSpc>
                <a:spcPct val="100000"/>
              </a:lnSpc>
            </a:pPr>
            <a:r>
              <a:rPr lang="en-US" spc="-110" dirty="0">
                <a:solidFill>
                  <a:srgbClr val="2C3148"/>
                </a:solidFill>
                <a:latin typeface="Lucida Sans Unicode"/>
                <a:cs typeface="Lucida Sans Unicode"/>
              </a:rPr>
              <a:t>SUMO</a:t>
            </a:r>
            <a:r>
              <a:rPr lang="en-US" spc="-13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lang="en-US" spc="-70" dirty="0">
                <a:solidFill>
                  <a:srgbClr val="2C3148"/>
                </a:solidFill>
                <a:latin typeface="Lucida Sans Unicode"/>
                <a:cs typeface="Lucida Sans Unicode"/>
              </a:rPr>
              <a:t>&amp;</a:t>
            </a:r>
            <a:r>
              <a:rPr lang="en-US" spc="-13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lang="en-US" spc="-50" dirty="0">
                <a:solidFill>
                  <a:srgbClr val="2C3148"/>
                </a:solidFill>
                <a:latin typeface="Lucida Sans Unicode"/>
                <a:cs typeface="Lucida Sans Unicode"/>
              </a:rPr>
              <a:t>RL</a:t>
            </a:r>
            <a:r>
              <a:rPr lang="en-US" spc="-12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lang="en-US" spc="-85" dirty="0">
                <a:solidFill>
                  <a:srgbClr val="2C3148"/>
                </a:solidFill>
                <a:latin typeface="Lucida Sans Unicode"/>
                <a:cs typeface="Lucida Sans Unicode"/>
              </a:rPr>
              <a:t>Integration</a:t>
            </a:r>
            <a:r>
              <a:rPr lang="en-US" spc="-11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lang="en-US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Complexity</a:t>
            </a:r>
            <a:endParaRPr lang="en-US" dirty="0">
              <a:latin typeface="Lucida Sans Unicode"/>
              <a:cs typeface="Lucida Sans Unicode"/>
            </a:endParaRP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r>
              <a:rPr lang="en-US" sz="1600" i="1" dirty="0"/>
              <a:t>Challenge:</a:t>
            </a:r>
            <a:r>
              <a:rPr lang="en-US" sz="1600" dirty="0"/>
              <a:t> The initial script was incompatible with the new Test2.net.xml file, as all road IDs had changed.</a:t>
            </a: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r>
              <a:rPr lang="en-US" sz="1600" i="1" dirty="0"/>
              <a:t>Mitigation:</a:t>
            </a:r>
            <a:r>
              <a:rPr lang="en-US" sz="1600" dirty="0"/>
              <a:t> We re-mapped all road names (main_S_1 -&gt; -E0, etc.) and agent routes inside the </a:t>
            </a:r>
            <a:r>
              <a:rPr lang="en-US" sz="1600" dirty="0" err="1"/>
              <a:t>SumoEnvironment</a:t>
            </a:r>
            <a:r>
              <a:rPr lang="en-US" sz="1600" dirty="0"/>
              <a:t> class.</a:t>
            </a: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endParaRPr lang="en-US" sz="1600" spc="-85" dirty="0">
              <a:solidFill>
                <a:srgbClr val="2C3148"/>
              </a:solidFill>
              <a:latin typeface="Lucida Sans Unicode"/>
              <a:cs typeface="Lucida Sans Unicode"/>
            </a:endParaRP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r>
              <a:rPr lang="en-IN" sz="1800" spc="-85" dirty="0">
                <a:solidFill>
                  <a:srgbClr val="2C3148"/>
                </a:solidFill>
                <a:latin typeface="Lucida Sans Unicode"/>
                <a:cs typeface="Lucida Sans Unicode"/>
              </a:rPr>
              <a:t>Computation</a:t>
            </a:r>
            <a:r>
              <a:rPr sz="1800" spc="-100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C3148"/>
                </a:solidFill>
                <a:latin typeface="Lucida Sans Unicode"/>
                <a:cs typeface="Lucida Sans Unicode"/>
              </a:rPr>
              <a:t>Time</a:t>
            </a:r>
            <a:r>
              <a:rPr sz="1800" spc="-12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C3148"/>
                </a:solidFill>
                <a:latin typeface="Lucida Sans Unicode"/>
                <a:cs typeface="Lucida Sans Unicode"/>
              </a:rPr>
              <a:t>for</a:t>
            </a:r>
            <a:r>
              <a:rPr sz="1800" spc="-125" dirty="0">
                <a:solidFill>
                  <a:srgbClr val="2C3148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C3148"/>
                </a:solidFill>
                <a:latin typeface="Lucida Sans Unicode"/>
                <a:cs typeface="Lucida Sans Unicode"/>
              </a:rPr>
              <a:t>Training</a:t>
            </a:r>
            <a:endParaRPr lang="en-US" sz="1800" spc="-10" dirty="0">
              <a:solidFill>
                <a:srgbClr val="2C3148"/>
              </a:solidFill>
              <a:latin typeface="Lucida Sans Unicode"/>
              <a:cs typeface="Lucida Sans Unicode"/>
            </a:endParaRP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r>
              <a:rPr lang="en-US" sz="1600" i="1" dirty="0"/>
              <a:t>Challenge:</a:t>
            </a:r>
            <a:r>
              <a:rPr lang="en-US" sz="1600" dirty="0"/>
              <a:t> The original 2000-episode training was "taking WAY too long" because training occurred on every step.</a:t>
            </a:r>
          </a:p>
          <a:p>
            <a:pPr marL="7490459" marR="5080">
              <a:lnSpc>
                <a:spcPct val="108700"/>
              </a:lnSpc>
              <a:spcBef>
                <a:spcPts val="1015"/>
              </a:spcBef>
            </a:pPr>
            <a:r>
              <a:rPr lang="en-US" sz="1600" i="1" dirty="0"/>
              <a:t>Mitigation:</a:t>
            </a:r>
            <a:r>
              <a:rPr lang="en-US" sz="1600" dirty="0"/>
              <a:t> We implemented "fast-train" settings: reduced episodes to 200 and changed the training loop to update networks only once every 10 steps.</a:t>
            </a:r>
            <a:endParaRPr sz="1600" dirty="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40DBD88-0039-5DB5-1E16-2C030659A66D}"/>
                  </a:ext>
                </a:extLst>
              </p14:cNvPr>
              <p14:cNvContentPartPr/>
              <p14:nvPr/>
            </p14:nvContentPartPr>
            <p14:xfrm>
              <a:off x="5323410" y="3125430"/>
              <a:ext cx="2333520" cy="2480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40DBD88-0039-5DB5-1E16-2C030659A6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7290" y="3119310"/>
                <a:ext cx="2345760" cy="249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4A544E9-2718-BCA7-355B-13F6EDFBC202}"/>
              </a:ext>
            </a:extLst>
          </p:cNvPr>
          <p:cNvGrpSpPr/>
          <p:nvPr/>
        </p:nvGrpSpPr>
        <p:grpSpPr>
          <a:xfrm>
            <a:off x="7578090" y="5269230"/>
            <a:ext cx="194400" cy="250560"/>
            <a:chOff x="7578090" y="5269230"/>
            <a:chExt cx="19440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B97DA5-E663-7B16-E8FB-50D6C723C79A}"/>
                    </a:ext>
                  </a:extLst>
                </p14:cNvPr>
                <p14:cNvContentPartPr/>
                <p14:nvPr/>
              </p14:nvContentPartPr>
              <p14:xfrm>
                <a:off x="7578090" y="534879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B97DA5-E663-7B16-E8FB-50D6C723C7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15450" y="52861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05F60F-EDDA-7F7C-0B28-0B8F75E99C2F}"/>
                    </a:ext>
                  </a:extLst>
                </p14:cNvPr>
                <p14:cNvContentPartPr/>
                <p14:nvPr/>
              </p14:nvContentPartPr>
              <p14:xfrm>
                <a:off x="7715250" y="538335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05F60F-EDDA-7F7C-0B28-0B8F75E99C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52610" y="53207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8A6F4F-7E35-4958-146B-D35E3619F4BA}"/>
                    </a:ext>
                  </a:extLst>
                </p14:cNvPr>
                <p14:cNvContentPartPr/>
                <p14:nvPr/>
              </p14:nvContentPartPr>
              <p14:xfrm>
                <a:off x="7703730" y="5269230"/>
                <a:ext cx="68760" cy="250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8A6F4F-7E35-4958-146B-D35E3619F4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40730" y="5206230"/>
                  <a:ext cx="194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66412F-9C9E-BA81-E9E8-F127738B27C1}"/>
                    </a:ext>
                  </a:extLst>
                </p14:cNvPr>
                <p14:cNvContentPartPr/>
                <p14:nvPr/>
              </p14:nvContentPartPr>
              <p14:xfrm>
                <a:off x="7703370" y="547479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66412F-9C9E-BA81-E9E8-F127738B27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40730" y="54117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D64D32-7CDA-BD8D-A851-81A8CA879CFB}"/>
                  </a:ext>
                </a:extLst>
              </p14:cNvPr>
              <p14:cNvContentPartPr/>
              <p14:nvPr/>
            </p14:nvContentPartPr>
            <p14:xfrm>
              <a:off x="7557570" y="3837150"/>
              <a:ext cx="249480" cy="216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D64D32-7CDA-BD8D-A851-81A8CA879C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94570" y="3774510"/>
                <a:ext cx="37512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46E9EF5-A837-D7DE-C9D0-A023ED984C82}"/>
                  </a:ext>
                </a:extLst>
              </p14:cNvPr>
              <p14:cNvContentPartPr/>
              <p14:nvPr/>
            </p14:nvContentPartPr>
            <p14:xfrm>
              <a:off x="7576290" y="2630430"/>
              <a:ext cx="162000" cy="151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46E9EF5-A837-D7DE-C9D0-A023ED984C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13650" y="2567430"/>
                <a:ext cx="287640" cy="27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85459" y="438099"/>
            <a:ext cx="10102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C45"/>
                </a:solidFill>
                <a:latin typeface="Lucida Sans Unicode"/>
                <a:cs typeface="Lucida Sans Unicode"/>
              </a:rPr>
              <a:t>Summary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77362" y="1119709"/>
            <a:ext cx="885303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5400" dirty="0"/>
              <a:t>Implementation Complete</a:t>
            </a:r>
            <a:endParaRPr sz="4800" dirty="0"/>
          </a:p>
        </p:txBody>
      </p:sp>
      <p:grpSp>
        <p:nvGrpSpPr>
          <p:cNvPr id="5" name="object 5"/>
          <p:cNvGrpSpPr/>
          <p:nvPr/>
        </p:nvGrpSpPr>
        <p:grpSpPr>
          <a:xfrm>
            <a:off x="6135623" y="2415539"/>
            <a:ext cx="7931150" cy="3153410"/>
            <a:chOff x="6135623" y="2415539"/>
            <a:chExt cx="7931150" cy="3153410"/>
          </a:xfrm>
        </p:grpSpPr>
        <p:sp>
          <p:nvSpPr>
            <p:cNvPr id="6" name="object 6"/>
            <p:cNvSpPr/>
            <p:nvPr/>
          </p:nvSpPr>
          <p:spPr>
            <a:xfrm>
              <a:off x="6139433" y="2419349"/>
              <a:ext cx="7923530" cy="3145790"/>
            </a:xfrm>
            <a:custGeom>
              <a:avLst/>
              <a:gdLst/>
              <a:ahLst/>
              <a:cxnLst/>
              <a:rect l="l" t="t" r="r" b="b"/>
              <a:pathLst>
                <a:path w="7923530" h="3145790">
                  <a:moveTo>
                    <a:pt x="7849869" y="0"/>
                  </a:moveTo>
                  <a:lnTo>
                    <a:pt x="73405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3072130"/>
                  </a:lnTo>
                  <a:lnTo>
                    <a:pt x="5772" y="3100691"/>
                  </a:lnTo>
                  <a:lnTo>
                    <a:pt x="21510" y="3124025"/>
                  </a:lnTo>
                  <a:lnTo>
                    <a:pt x="44844" y="3139763"/>
                  </a:lnTo>
                  <a:lnTo>
                    <a:pt x="73405" y="3145536"/>
                  </a:lnTo>
                  <a:lnTo>
                    <a:pt x="7849869" y="3145536"/>
                  </a:lnTo>
                  <a:lnTo>
                    <a:pt x="7878431" y="3139763"/>
                  </a:lnTo>
                  <a:lnTo>
                    <a:pt x="7901765" y="3124025"/>
                  </a:lnTo>
                  <a:lnTo>
                    <a:pt x="7917503" y="3100691"/>
                  </a:lnTo>
                  <a:lnTo>
                    <a:pt x="7923275" y="3072130"/>
                  </a:lnTo>
                  <a:lnTo>
                    <a:pt x="7923275" y="73405"/>
                  </a:lnTo>
                  <a:lnTo>
                    <a:pt x="7917503" y="44844"/>
                  </a:lnTo>
                  <a:lnTo>
                    <a:pt x="7901765" y="21510"/>
                  </a:lnTo>
                  <a:lnTo>
                    <a:pt x="7878431" y="5772"/>
                  </a:lnTo>
                  <a:lnTo>
                    <a:pt x="784986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39433" y="2419349"/>
              <a:ext cx="7923530" cy="3145790"/>
            </a:xfrm>
            <a:custGeom>
              <a:avLst/>
              <a:gdLst/>
              <a:ahLst/>
              <a:cxnLst/>
              <a:rect l="l" t="t" r="r" b="b"/>
              <a:pathLst>
                <a:path w="7923530" h="3145790">
                  <a:moveTo>
                    <a:pt x="0" y="73405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5" y="0"/>
                  </a:lnTo>
                  <a:lnTo>
                    <a:pt x="7849869" y="0"/>
                  </a:lnTo>
                  <a:lnTo>
                    <a:pt x="7878431" y="5772"/>
                  </a:lnTo>
                  <a:lnTo>
                    <a:pt x="7901765" y="21510"/>
                  </a:lnTo>
                  <a:lnTo>
                    <a:pt x="7917503" y="44844"/>
                  </a:lnTo>
                  <a:lnTo>
                    <a:pt x="7923275" y="73405"/>
                  </a:lnTo>
                  <a:lnTo>
                    <a:pt x="7923275" y="3072130"/>
                  </a:lnTo>
                  <a:lnTo>
                    <a:pt x="7917503" y="3100691"/>
                  </a:lnTo>
                  <a:lnTo>
                    <a:pt x="7901765" y="3124025"/>
                  </a:lnTo>
                  <a:lnTo>
                    <a:pt x="7878431" y="3139763"/>
                  </a:lnTo>
                  <a:lnTo>
                    <a:pt x="7849869" y="3145536"/>
                  </a:lnTo>
                  <a:lnTo>
                    <a:pt x="73405" y="3145536"/>
                  </a:lnTo>
                  <a:lnTo>
                    <a:pt x="44844" y="3139763"/>
                  </a:lnTo>
                  <a:lnTo>
                    <a:pt x="21510" y="3124025"/>
                  </a:lnTo>
                  <a:lnTo>
                    <a:pt x="5772" y="3100691"/>
                  </a:lnTo>
                  <a:lnTo>
                    <a:pt x="0" y="3072130"/>
                  </a:lnTo>
                  <a:lnTo>
                    <a:pt x="0" y="73405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35623" y="2433827"/>
              <a:ext cx="3953510" cy="1845945"/>
            </a:xfrm>
            <a:custGeom>
              <a:avLst/>
              <a:gdLst/>
              <a:ahLst/>
              <a:cxnLst/>
              <a:rect l="l" t="t" r="r" b="b"/>
              <a:pathLst>
                <a:path w="3953509" h="1845945">
                  <a:moveTo>
                    <a:pt x="3879850" y="0"/>
                  </a:moveTo>
                  <a:lnTo>
                    <a:pt x="73405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1772158"/>
                  </a:lnTo>
                  <a:lnTo>
                    <a:pt x="5772" y="1800719"/>
                  </a:lnTo>
                  <a:lnTo>
                    <a:pt x="21510" y="1824053"/>
                  </a:lnTo>
                  <a:lnTo>
                    <a:pt x="44844" y="1839791"/>
                  </a:lnTo>
                  <a:lnTo>
                    <a:pt x="73405" y="1845564"/>
                  </a:lnTo>
                  <a:lnTo>
                    <a:pt x="3879850" y="1845564"/>
                  </a:lnTo>
                  <a:lnTo>
                    <a:pt x="3908411" y="1839791"/>
                  </a:lnTo>
                  <a:lnTo>
                    <a:pt x="3931745" y="1824053"/>
                  </a:lnTo>
                  <a:lnTo>
                    <a:pt x="3947483" y="1800719"/>
                  </a:lnTo>
                  <a:lnTo>
                    <a:pt x="3953255" y="1772158"/>
                  </a:lnTo>
                  <a:lnTo>
                    <a:pt x="3953255" y="73406"/>
                  </a:lnTo>
                  <a:lnTo>
                    <a:pt x="3947483" y="44844"/>
                  </a:lnTo>
                  <a:lnTo>
                    <a:pt x="3931745" y="21510"/>
                  </a:lnTo>
                  <a:lnTo>
                    <a:pt x="3908411" y="5772"/>
                  </a:lnTo>
                  <a:lnTo>
                    <a:pt x="3879850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98184" y="2580258"/>
            <a:ext cx="3367404" cy="11522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600" dirty="0"/>
              <a:t>Implementation Complete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/>
              <a:t>The 4-junction testbed, V2V channel, and all three agent scripts (DDPG-</a:t>
            </a:r>
            <a:r>
              <a:rPr lang="en-US" sz="1400" dirty="0" err="1"/>
              <a:t>EaOI</a:t>
            </a:r>
            <a:r>
              <a:rPr lang="en-US" sz="1400" dirty="0"/>
              <a:t>, DDPG-Vanilla, DQN) are built, integrated, and functional.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88880" y="2433827"/>
            <a:ext cx="3953510" cy="1845945"/>
            <a:chOff x="10088880" y="2433827"/>
            <a:chExt cx="3953510" cy="1845945"/>
          </a:xfrm>
        </p:grpSpPr>
        <p:sp>
          <p:nvSpPr>
            <p:cNvPr id="11" name="object 11"/>
            <p:cNvSpPr/>
            <p:nvPr/>
          </p:nvSpPr>
          <p:spPr>
            <a:xfrm>
              <a:off x="10088880" y="2433827"/>
              <a:ext cx="3953510" cy="1845945"/>
            </a:xfrm>
            <a:custGeom>
              <a:avLst/>
              <a:gdLst/>
              <a:ahLst/>
              <a:cxnLst/>
              <a:rect l="l" t="t" r="r" b="b"/>
              <a:pathLst>
                <a:path w="3953509" h="1845945">
                  <a:moveTo>
                    <a:pt x="3953255" y="0"/>
                  </a:moveTo>
                  <a:lnTo>
                    <a:pt x="0" y="0"/>
                  </a:lnTo>
                  <a:lnTo>
                    <a:pt x="0" y="1845564"/>
                  </a:lnTo>
                  <a:lnTo>
                    <a:pt x="3953255" y="1845564"/>
                  </a:lnTo>
                  <a:lnTo>
                    <a:pt x="3953255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88880" y="2433827"/>
              <a:ext cx="22860" cy="1845945"/>
            </a:xfrm>
            <a:custGeom>
              <a:avLst/>
              <a:gdLst/>
              <a:ahLst/>
              <a:cxnLst/>
              <a:rect l="l" t="t" r="r" b="b"/>
              <a:pathLst>
                <a:path w="22859" h="1845945">
                  <a:moveTo>
                    <a:pt x="17779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840484"/>
                  </a:lnTo>
                  <a:lnTo>
                    <a:pt x="5079" y="1845564"/>
                  </a:lnTo>
                  <a:lnTo>
                    <a:pt x="17779" y="1845564"/>
                  </a:lnTo>
                  <a:lnTo>
                    <a:pt x="22860" y="1840484"/>
                  </a:lnTo>
                  <a:lnTo>
                    <a:pt x="22860" y="508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513821" y="2580258"/>
            <a:ext cx="3211195" cy="11778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600" dirty="0"/>
              <a:t>Training in Progress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dirty="0">
              <a:solidFill>
                <a:srgbClr val="2C314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/>
              <a:t>We are running the 200-episode "fast-train" session to generate our first set of models.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35623" y="3127248"/>
            <a:ext cx="7907020" cy="2437130"/>
            <a:chOff x="6135623" y="3127248"/>
            <a:chExt cx="7907020" cy="2437130"/>
          </a:xfrm>
        </p:grpSpPr>
        <p:sp>
          <p:nvSpPr>
            <p:cNvPr id="15" name="object 15"/>
            <p:cNvSpPr/>
            <p:nvPr/>
          </p:nvSpPr>
          <p:spPr>
            <a:xfrm>
              <a:off x="9871709" y="3138678"/>
              <a:ext cx="436245" cy="437515"/>
            </a:xfrm>
            <a:custGeom>
              <a:avLst/>
              <a:gdLst/>
              <a:ahLst/>
              <a:cxnLst/>
              <a:rect l="l" t="t" r="r" b="b"/>
              <a:pathLst>
                <a:path w="436245" h="437514">
                  <a:moveTo>
                    <a:pt x="362585" y="0"/>
                  </a:moveTo>
                  <a:lnTo>
                    <a:pt x="73279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364109"/>
                  </a:lnTo>
                  <a:lnTo>
                    <a:pt x="5752" y="392650"/>
                  </a:lnTo>
                  <a:lnTo>
                    <a:pt x="21447" y="415940"/>
                  </a:lnTo>
                  <a:lnTo>
                    <a:pt x="44737" y="431635"/>
                  </a:lnTo>
                  <a:lnTo>
                    <a:pt x="73279" y="437388"/>
                  </a:lnTo>
                  <a:lnTo>
                    <a:pt x="362585" y="437388"/>
                  </a:lnTo>
                  <a:lnTo>
                    <a:pt x="391126" y="431635"/>
                  </a:lnTo>
                  <a:lnTo>
                    <a:pt x="414416" y="415940"/>
                  </a:lnTo>
                  <a:lnTo>
                    <a:pt x="430111" y="392650"/>
                  </a:lnTo>
                  <a:lnTo>
                    <a:pt x="435864" y="364109"/>
                  </a:lnTo>
                  <a:lnTo>
                    <a:pt x="435864" y="73279"/>
                  </a:lnTo>
                  <a:lnTo>
                    <a:pt x="430111" y="44737"/>
                  </a:lnTo>
                  <a:lnTo>
                    <a:pt x="414416" y="21447"/>
                  </a:lnTo>
                  <a:lnTo>
                    <a:pt x="391126" y="5752"/>
                  </a:lnTo>
                  <a:lnTo>
                    <a:pt x="3625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71709" y="3138678"/>
              <a:ext cx="436245" cy="437515"/>
            </a:xfrm>
            <a:custGeom>
              <a:avLst/>
              <a:gdLst/>
              <a:ahLst/>
              <a:cxnLst/>
              <a:rect l="l" t="t" r="r" b="b"/>
              <a:pathLst>
                <a:path w="436245" h="437514">
                  <a:moveTo>
                    <a:pt x="0" y="73279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9" y="0"/>
                  </a:lnTo>
                  <a:lnTo>
                    <a:pt x="362585" y="0"/>
                  </a:lnTo>
                  <a:lnTo>
                    <a:pt x="391126" y="5752"/>
                  </a:lnTo>
                  <a:lnTo>
                    <a:pt x="414416" y="21447"/>
                  </a:lnTo>
                  <a:lnTo>
                    <a:pt x="430111" y="44737"/>
                  </a:lnTo>
                  <a:lnTo>
                    <a:pt x="435864" y="73279"/>
                  </a:lnTo>
                  <a:lnTo>
                    <a:pt x="435864" y="364109"/>
                  </a:lnTo>
                  <a:lnTo>
                    <a:pt x="430111" y="392650"/>
                  </a:lnTo>
                  <a:lnTo>
                    <a:pt x="414416" y="415940"/>
                  </a:lnTo>
                  <a:lnTo>
                    <a:pt x="391126" y="431635"/>
                  </a:lnTo>
                  <a:lnTo>
                    <a:pt x="362585" y="437388"/>
                  </a:lnTo>
                  <a:lnTo>
                    <a:pt x="73279" y="437388"/>
                  </a:lnTo>
                  <a:lnTo>
                    <a:pt x="44737" y="431635"/>
                  </a:lnTo>
                  <a:lnTo>
                    <a:pt x="21447" y="415940"/>
                  </a:lnTo>
                  <a:lnTo>
                    <a:pt x="5752" y="392650"/>
                  </a:lnTo>
                  <a:lnTo>
                    <a:pt x="0" y="364109"/>
                  </a:lnTo>
                  <a:lnTo>
                    <a:pt x="0" y="7327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79152" y="3220212"/>
              <a:ext cx="219455" cy="2727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35623" y="4279392"/>
              <a:ext cx="7907020" cy="1285240"/>
            </a:xfrm>
            <a:custGeom>
              <a:avLst/>
              <a:gdLst/>
              <a:ahLst/>
              <a:cxnLst/>
              <a:rect l="l" t="t" r="r" b="b"/>
              <a:pathLst>
                <a:path w="7907019" h="1285239">
                  <a:moveTo>
                    <a:pt x="7906511" y="0"/>
                  </a:moveTo>
                  <a:lnTo>
                    <a:pt x="0" y="0"/>
                  </a:lnTo>
                  <a:lnTo>
                    <a:pt x="0" y="1284731"/>
                  </a:lnTo>
                  <a:lnTo>
                    <a:pt x="7906511" y="1284731"/>
                  </a:lnTo>
                  <a:lnTo>
                    <a:pt x="790651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135623" y="4279392"/>
              <a:ext cx="7907020" cy="22860"/>
            </a:xfrm>
            <a:custGeom>
              <a:avLst/>
              <a:gdLst/>
              <a:ahLst/>
              <a:cxnLst/>
              <a:rect l="l" t="t" r="r" b="b"/>
              <a:pathLst>
                <a:path w="7907019" h="22860">
                  <a:moveTo>
                    <a:pt x="7901432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079" y="22860"/>
                  </a:lnTo>
                  <a:lnTo>
                    <a:pt x="7901432" y="22860"/>
                  </a:lnTo>
                  <a:lnTo>
                    <a:pt x="7906512" y="17780"/>
                  </a:lnTo>
                  <a:lnTo>
                    <a:pt x="7906512" y="5080"/>
                  </a:lnTo>
                  <a:lnTo>
                    <a:pt x="7901432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41464" y="4282772"/>
            <a:ext cx="8442515" cy="146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600" dirty="0"/>
              <a:t>Immediate Next Steps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400" dirty="0"/>
              <a:t>Run the evaluate() script to analyse the performance of the fast-trained models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/>
              <a:t>Visually inspect the baseline (J4) in the GUI to check for traffic jams.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/>
              <a:t>Analyze the results: Is the "Channel-Aware" agent (J1) safer than the "Channel-Unaware" agent (J2)?</a:t>
            </a:r>
            <a:endParaRPr lang="en-IN" sz="14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dirty="0"/>
          </a:p>
        </p:txBody>
      </p:sp>
      <p:sp>
        <p:nvSpPr>
          <p:cNvPr id="21" name="object 21"/>
          <p:cNvSpPr txBox="1"/>
          <p:nvPr/>
        </p:nvSpPr>
        <p:spPr>
          <a:xfrm>
            <a:off x="6338061" y="6211951"/>
            <a:ext cx="7306309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sz="1800" spc="65" dirty="0">
                <a:solidFill>
                  <a:srgbClr val="2C3148"/>
                </a:solidFill>
                <a:latin typeface="Arial"/>
                <a:cs typeface="Arial"/>
              </a:rPr>
              <a:t>We</a:t>
            </a:r>
            <a:r>
              <a:rPr sz="180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3148"/>
                </a:solidFill>
                <a:latin typeface="Arial"/>
                <a:cs typeface="Arial"/>
              </a:rPr>
              <a:t>are</a:t>
            </a:r>
            <a:r>
              <a:rPr sz="180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2C3148"/>
                </a:solidFill>
                <a:latin typeface="Arial"/>
                <a:cs typeface="Arial"/>
              </a:rPr>
              <a:t>now</a:t>
            </a:r>
            <a:r>
              <a:rPr sz="180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C3148"/>
                </a:solidFill>
                <a:latin typeface="Arial"/>
                <a:cs typeface="Arial"/>
              </a:rPr>
              <a:t>open</a:t>
            </a:r>
            <a:r>
              <a:rPr sz="180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sz="180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C3148"/>
                </a:solidFill>
                <a:latin typeface="Arial"/>
                <a:cs typeface="Arial"/>
              </a:rPr>
              <a:t>questions</a:t>
            </a:r>
            <a:r>
              <a:rPr sz="1800" spc="-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C3148"/>
                </a:solidFill>
                <a:latin typeface="Arial"/>
                <a:cs typeface="Arial"/>
              </a:rPr>
              <a:t>regarding</a:t>
            </a:r>
            <a:r>
              <a:rPr sz="180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114" dirty="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3148"/>
                </a:solidFill>
                <a:latin typeface="Arial"/>
                <a:cs typeface="Arial"/>
              </a:rPr>
              <a:t>Phase</a:t>
            </a:r>
            <a:r>
              <a:rPr sz="1800" spc="-1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3148"/>
                </a:solidFill>
                <a:latin typeface="Arial"/>
                <a:cs typeface="Arial"/>
              </a:rPr>
              <a:t>1</a:t>
            </a:r>
            <a:r>
              <a:rPr sz="1800" spc="-4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C3148"/>
                </a:solidFill>
                <a:latin typeface="Arial"/>
                <a:cs typeface="Arial"/>
              </a:rPr>
              <a:t>review</a:t>
            </a:r>
            <a:r>
              <a:rPr sz="1800" spc="-25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2C3148"/>
                </a:solidFill>
                <a:latin typeface="Arial"/>
                <a:cs typeface="Arial"/>
              </a:rPr>
              <a:t>or</a:t>
            </a:r>
            <a:r>
              <a:rPr sz="1800" spc="-5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Arial"/>
                <a:cs typeface="Arial"/>
              </a:rPr>
              <a:t>our </a:t>
            </a:r>
            <a:r>
              <a:rPr sz="1800" spc="125" dirty="0">
                <a:solidFill>
                  <a:srgbClr val="2C3148"/>
                </a:solidFill>
                <a:latin typeface="Arial"/>
                <a:cs typeface="Arial"/>
              </a:rPr>
              <a:t>future</a:t>
            </a:r>
            <a:r>
              <a:rPr sz="1800" spc="2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2C3148"/>
                </a:solidFill>
                <a:latin typeface="Arial"/>
                <a:cs typeface="Arial"/>
              </a:rPr>
              <a:t>implementation</a:t>
            </a:r>
            <a:r>
              <a:rPr sz="1800" spc="40" dirty="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2C3148"/>
                </a:solidFill>
                <a:latin typeface="Arial"/>
                <a:cs typeface="Arial"/>
              </a:rPr>
              <a:t>strategies.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17920" y="6096000"/>
            <a:ext cx="22860" cy="951230"/>
          </a:xfrm>
          <a:custGeom>
            <a:avLst/>
            <a:gdLst/>
            <a:ahLst/>
            <a:cxnLst/>
            <a:rect l="l" t="t" r="r" b="b"/>
            <a:pathLst>
              <a:path w="22860" h="951229">
                <a:moveTo>
                  <a:pt x="22860" y="0"/>
                </a:moveTo>
                <a:lnTo>
                  <a:pt x="0" y="0"/>
                </a:lnTo>
                <a:lnTo>
                  <a:pt x="0" y="950976"/>
                </a:lnTo>
                <a:lnTo>
                  <a:pt x="22860" y="950976"/>
                </a:lnTo>
                <a:lnTo>
                  <a:pt x="22860" y="0"/>
                </a:lnTo>
                <a:close/>
              </a:path>
            </a:pathLst>
          </a:custGeom>
          <a:solidFill>
            <a:srgbClr val="43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2726669" y="7727948"/>
            <a:ext cx="1847850" cy="429259"/>
            <a:chOff x="12726669" y="7727948"/>
            <a:chExt cx="1847850" cy="429259"/>
          </a:xfrm>
        </p:grpSpPr>
        <p:sp>
          <p:nvSpPr>
            <p:cNvPr id="24" name="object 24">
              <a:hlinkClick r:id="rId4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1834895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834895" y="416051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hlinkClick r:id="rId4"/>
            </p:cNvPr>
            <p:cNvSpPr/>
            <p:nvPr/>
          </p:nvSpPr>
          <p:spPr>
            <a:xfrm>
              <a:off x="12733019" y="7734298"/>
              <a:ext cx="1835150" cy="416559"/>
            </a:xfrm>
            <a:custGeom>
              <a:avLst/>
              <a:gdLst/>
              <a:ahLst/>
              <a:cxnLst/>
              <a:rect l="l" t="t" r="r" b="b"/>
              <a:pathLst>
                <a:path w="1835150" h="416559">
                  <a:moveTo>
                    <a:pt x="0" y="416051"/>
                  </a:moveTo>
                  <a:lnTo>
                    <a:pt x="1834895" y="416051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1029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Lucida Sans Unicode</vt:lpstr>
      <vt:lpstr>Times New Roman</vt:lpstr>
      <vt:lpstr>Office Theme</vt:lpstr>
      <vt:lpstr>Adaptive On-Ramp Merging Strategy under Imperfect Communication Performance</vt:lpstr>
      <vt:lpstr>The Merging Challenge</vt:lpstr>
      <vt:lpstr>The Unaddressed Research Gap</vt:lpstr>
      <vt:lpstr>Key Contribution of the Paper</vt:lpstr>
      <vt:lpstr>Architecture Overview</vt:lpstr>
      <vt:lpstr>Chapter III: Our Execution Plan</vt:lpstr>
      <vt:lpstr>Our Implementation Stack</vt:lpstr>
      <vt:lpstr>Performance Measurement</vt:lpstr>
      <vt:lpstr>Chapter IV: Outlook</vt:lpstr>
      <vt:lpstr>Implementation Complete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Dhruv Sandilya</cp:lastModifiedBy>
  <cp:revision>5</cp:revision>
  <cp:lastPrinted>2025-11-04T19:48:44Z</cp:lastPrinted>
  <dcterms:created xsi:type="dcterms:W3CDTF">2025-11-04T17:52:33Z</dcterms:created>
  <dcterms:modified xsi:type="dcterms:W3CDTF">2025-11-04T19:49:14Z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2021</vt:lpwstr>
  </property>
</Properties>
</file>